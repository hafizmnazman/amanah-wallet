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Amanah is an agent wallet for money held in trust: zakat, charity, humanitarian cash and public subsidies. It pays beneficiaries on its own, on a public chain. Our claim is that no single persuaded model can make it pay. In our red team, [[fill: S1 %]] of attacks got the planner alone, which is how a typical agent wallet works, to sign a bad payment. Through Amanah's quorum and contract, [[fill: attacks that moved funds]] moved any funds. Amanah is the Arabic word for a trust held on behalf of others. The rest of this deck shows how the wallet carries that duty, and how you can check each number yourself.</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Agents already hold money, and they are already being talked into moving it. Freysa released its prize pool after one message redefined its transfer tool. Bybit's signers approved a malicious payload while the screen showed the right address. An encoded message made an AI wallet send tokens worth about 150,000 to 200,000 US dollars. Production wallets add allowlists, caps and session limits. Those are necessary, but they judge mechanics: who, how much and how often. A payment to a known address, under the limit, made for the wrong reason, passes all of them. And a model cannot reliably check another of its kind: when two models are both wrong, they pick the same wrong answer about 60% of the time, more often when they share a provider.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agent payment rail we reviewed serves the person who owns the money. None we reviewed is built for money held in trust. There the payer is a steward, such as a zakat institution or an aid agency. The owner is the public that gave the money. And the recipient is vulnerable and cannot absorb a mistake. A misdirected payment is money taken from someone poor, and it costs the institution the trust it runs on. The scale is large: one Malaysian state collected 1.22 billion ringgit of zakat in 2024, and humanitarian cash reached 7.3 billion US dollars in 2025. Aid is already moving on-chain.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a monthly aid run. The officer types: pay October's aid for Ipoh. There are two October batches, so the agent asks one question. The officer picks zakat monthly aid. The plan card shows 12 households and 1,810 USDC, built from the books. The officer says: leave out household 12, they moved. The agent re-plans the same batch: 11 households, 1,650 USDC. On confirm, the planner signs each payout, the auditor and the sentinel check it in parallel, and the vault decides the tier. All 11 are routine, so they are paid with no human in the loop, and every step goes to a hash-chained log.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payout needs three signatures. The planner is Claude, by Anthropic, and it talks to staff. The auditor is Qwen, by Alibaba, a different model lineage. It never sees the conversation: it judges a case file of typed fields rebuilt from the books. The sentinel is not a language model at all. It applies eight rules to numbers, so no injected text can reach it. The signers differ in lineage, in what they see and in how they reason. The contract reads each key's lineage from an on-chain registry, and a quorum signed by two Claude keys reverts. Attacker text reaches at most one signer in raw form.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contract decides how many signers a payout needs, from facts it can check itself: the amount against the programme's cap, the share of today's budget already spent, the household's spend this period, and the security posture. Routine aid flows with three machine signatures. Anything above the cap or past 80% of the day's budget needs a trustee too. An agent cannot argue its way into a lower tier, because the tier is never its decision. And the worst case is a number. With every machine signer compromised at once, money only reaches beneficiaries two trustees approved, at most 80% of each daily budget moves per day, and each household stays within its 30-day cap. Eight invariants hold over 16,384 random calls each.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Models change without notice and new jailbreaks keep appearing, so a control tested once decays. Every day a red-team agent mutates the attack gallery and fires it at a sandbox copy of the quorum. It measures how often the planner and the auditor fail together, and it anchors the report's hash on-chain. Above a threshold fixed before the run, it raises the posture, and every payout then needs a trustee. The red team can only raise the posture. Lowering it takes two trustee signatures. So a compromised red-team agent can cause delays, never theft.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rubric names four attacks. An induced transfer, such as an urgent message from the chairman, meets an auditor that finds no such beneficiary, a sentinel that sees an unknown wallet, and a vault that reverts anything off the allowlist. A prompt-injected letter reaches the planner only as typed fields, the amount still comes from the books, and the sentinel's rules refuse the second payment it asks for. Data extraction finds nothing to leak, because no model's view holds personal data. Privilege escalation fails because no agent key holds a trustee role, and every registry change needs two trustees.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Independence is the whole argument, so we measured it rather than assumed it. We fixed the protocol and committed it before the full run. Each attack ran against five configurations, from the planner alone up to the full quorum and the vault. The planner alone signed [[fill: S1 %]] of the attacks. With the Qwen auditor, [[fill: S3 %]]. With the sentinel too, [[fill: S4 %]]. Through the vault, [[fill: S5 %]]. The planner and the Qwen auditor failed together on [[fill: joint failure, planner and Qwen auditor]] of transfer attacks. The paired comparisons use exact McNemar tests with Holm's correction, and every rate has a 95% Wilson interval.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Task completion is forty percent of the score, so every scenario ran on Base Sepolia in USDC. The vault is at [[fill: vault address]]. Scenarios one to five set it up: two trustees register the signers, set three mandates and add 45 beneficiaries, and a donor deposits. Then come the payouts, the attacks and the controls. In all, [[fill: Base Sepolia transactions]] transactions are tagged with their scenario, and [[fill: scenarios passed]] of 16 scenarios behaved as expected. Our verify script re-checks any executed payout from the chain alone: signer roles, distinct lineages, the tier, the caps, the allowlist and the trustee signature. It passed on [[fill: payouts verify.py passed]] executed payouts, and it fails on a hand-edited one.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Amanah is fund-agnostic: a programme's rules live in its on-chain mandate, so the same wallet serves zakat, waqf, charity, humanitarian cash or a government transfer. The demo runs three funds side by side. The build has 288 automated tests across five suites. A pilot needs one programme at a Malaysian zakat institution, agent keys in a key management service, and trustee governance in a Safe multisig. After that come attested lineage, so the registry can prove which model signed, and a permissioned chain for institutions that need one. The design maps to China's 2026 agent-payment convention: authorisation boundaries, limits, Know Your Agent, security testing and a human fallback.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1094415" cy="320040"/>
          </a:xfrm>
          <a:prstGeom prst="rect">
            <a:avLst/>
          </a:prstGeom>
          <a:noFill/>
        </p:spPr>
        <p:txBody>
          <a:bodyPr wrap="square" anchor="t" lIns="18288" rIns="18288" tIns="18288" bIns="18288">
            <a:spAutoFit/>
          </a:bodyPr>
          <a:lstStyle/>
          <a:p>
            <a:pPr algn="l">
              <a:lnSpc>
                <a:spcPct val="110000"/>
              </a:lnSpc>
              <a:spcAft>
                <a:spcPts val="0"/>
              </a:spcAft>
            </a:pPr>
            <a:r>
              <a:rPr sz="1200" b="1">
                <a:solidFill>
                  <a:srgbClr val="0B5D3B"/>
                </a:solidFill>
                <a:latin typeface="Arial"/>
              </a:rPr>
              <a:t>2026 SHENZHEN FINTECHATHON · INTERNATIONAL TRACK · TOPIC F: AUTONOMOUS ON-CHAIN WALLET</a:t>
            </a:r>
          </a:p>
        </p:txBody>
      </p:sp>
      <p:sp>
        <p:nvSpPr>
          <p:cNvPr id="3" name="TextBox 2"/>
          <p:cNvSpPr txBox="1"/>
          <p:nvPr/>
        </p:nvSpPr>
        <p:spPr>
          <a:xfrm>
            <a:off x="548640" y="658368"/>
            <a:ext cx="11094415" cy="1097280"/>
          </a:xfrm>
          <a:prstGeom prst="rect">
            <a:avLst/>
          </a:prstGeom>
          <a:noFill/>
        </p:spPr>
        <p:txBody>
          <a:bodyPr wrap="square" anchor="t" lIns="18288" rIns="18288" tIns="18288" bIns="18288">
            <a:spAutoFit/>
          </a:bodyPr>
          <a:lstStyle/>
          <a:p>
            <a:pPr algn="l">
              <a:lnSpc>
                <a:spcPct val="100000"/>
              </a:lnSpc>
              <a:spcAft>
                <a:spcPts val="0"/>
              </a:spcAft>
            </a:pPr>
            <a:r>
              <a:rPr sz="2800" b="1">
                <a:solidFill>
                  <a:srgbClr val="1D2321"/>
                </a:solidFill>
                <a:latin typeface="Arial"/>
              </a:rPr>
              <a:t>Amanah: the agent wallet with no single point of persuasion</a:t>
            </a:r>
          </a:p>
        </p:txBody>
      </p:sp>
      <p:sp>
        <p:nvSpPr>
          <p:cNvPr id="4" name="Rectangle 3"/>
          <p:cNvSpPr/>
          <p:nvPr/>
        </p:nvSpPr>
        <p:spPr>
          <a:xfrm>
            <a:off x="548640" y="6291072"/>
            <a:ext cx="11094415" cy="9525"/>
          </a:xfrm>
          <a:prstGeom prst="rect">
            <a:avLst/>
          </a:prstGeom>
          <a:solidFill>
            <a:srgbClr val="C9D6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355080"/>
            <a:ext cx="9631375" cy="365760"/>
          </a:xfrm>
          <a:prstGeom prst="rect">
            <a:avLst/>
          </a:prstGeom>
          <a:noFill/>
        </p:spPr>
        <p:txBody>
          <a:bodyPr wrap="square" anchor="t" lIns="18288" rIns="18288" tIns="18288" bIns="18288">
            <a:spAutoFit/>
          </a:bodyPr>
          <a:lstStyle/>
          <a:p>
            <a:pPr algn="l">
              <a:lnSpc>
                <a:spcPct val="110000"/>
              </a:lnSpc>
              <a:spcAft>
                <a:spcPts val="0"/>
              </a:spcAft>
            </a:pPr>
            <a:r>
              <a:rPr sz="1000" b="0">
                <a:solidFill>
                  <a:srgbClr val="5B6661"/>
                </a:solidFill>
                <a:latin typeface="Arial"/>
              </a:rPr>
              <a:t>Source: red-team final run, arms S1 and S5 (redteam/results/final/report.md)</a:t>
            </a:r>
          </a:p>
        </p:txBody>
      </p:sp>
      <p:sp>
        <p:nvSpPr>
          <p:cNvPr id="6" name="TextBox 5"/>
          <p:cNvSpPr txBox="1"/>
          <p:nvPr/>
        </p:nvSpPr>
        <p:spPr>
          <a:xfrm>
            <a:off x="10362895" y="6355080"/>
            <a:ext cx="1280160" cy="365760"/>
          </a:xfrm>
          <a:prstGeom prst="rect">
            <a:avLst/>
          </a:prstGeom>
          <a:noFill/>
        </p:spPr>
        <p:txBody>
          <a:bodyPr wrap="square" anchor="t" lIns="18288" rIns="18288" tIns="18288" bIns="18288">
            <a:spAutoFit/>
          </a:bodyPr>
          <a:lstStyle/>
          <a:p>
            <a:pPr algn="r">
              <a:lnSpc>
                <a:spcPct val="110000"/>
              </a:lnSpc>
              <a:spcAft>
                <a:spcPts val="0"/>
              </a:spcAft>
            </a:pPr>
            <a:r>
              <a:rPr sz="1000" b="0">
                <a:solidFill>
                  <a:srgbClr val="5B6661"/>
                </a:solidFill>
                <a:latin typeface="Arial"/>
              </a:rPr>
              <a:t>Amanah  1 / 11</a:t>
            </a:r>
          </a:p>
        </p:txBody>
      </p:sp>
      <p:sp>
        <p:nvSpPr>
          <p:cNvPr id="7" name="TextBox 6"/>
          <p:cNvSpPr txBox="1"/>
          <p:nvPr/>
        </p:nvSpPr>
        <p:spPr>
          <a:xfrm>
            <a:off x="548640" y="1600200"/>
            <a:ext cx="10515600" cy="548640"/>
          </a:xfrm>
          <a:prstGeom prst="rect">
            <a:avLst/>
          </a:prstGeom>
          <a:noFill/>
        </p:spPr>
        <p:txBody>
          <a:bodyPr wrap="square" anchor="t" lIns="18288" rIns="18288" tIns="18288" bIns="18288">
            <a:spAutoFit/>
          </a:bodyPr>
          <a:lstStyle/>
          <a:p>
            <a:pPr algn="l">
              <a:lnSpc>
                <a:spcPct val="110000"/>
              </a:lnSpc>
              <a:spcAft>
                <a:spcPts val="0"/>
              </a:spcAft>
            </a:pPr>
            <a:r>
              <a:rPr sz="1800" b="0">
                <a:solidFill>
                  <a:srgbClr val="5B6661"/>
                </a:solidFill>
                <a:latin typeface="Arial"/>
              </a:rPr>
              <a:t>Three signers built to fail differently must agree, and the contract checks that they differ.</a:t>
            </a:r>
          </a:p>
        </p:txBody>
      </p:sp>
      <p:sp>
        <p:nvSpPr>
          <p:cNvPr id="8" name="Rounded Rectangle 7"/>
          <p:cNvSpPr/>
          <p:nvPr/>
        </p:nvSpPr>
        <p:spPr>
          <a:xfrm>
            <a:off x="548640" y="2560320"/>
            <a:ext cx="5349240" cy="2377440"/>
          </a:xfrm>
          <a:prstGeom prst="roundRect">
            <a:avLst>
              <a:gd name="adj" fmla="val 8000"/>
            </a:avLst>
          </a:prstGeom>
          <a:solidFill>
            <a:srgbClr val="F8E9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13232" y="2651760"/>
            <a:ext cx="5020056" cy="2194560"/>
          </a:xfrm>
          <a:prstGeom prst="rect">
            <a:avLst/>
          </a:prstGeom>
          <a:noFill/>
        </p:spPr>
        <p:txBody>
          <a:bodyPr wrap="square" anchor="ctr" lIns="18288" rIns="18288" tIns="18288" bIns="18288">
            <a:spAutoFit/>
          </a:bodyPr>
          <a:lstStyle/>
          <a:p>
            <a:pPr algn="l">
              <a:lnSpc>
                <a:spcPct val="110000"/>
              </a:lnSpc>
              <a:spcAft>
                <a:spcPts val="700"/>
              </a:spcAft>
            </a:pPr>
            <a:r>
              <a:rPr sz="2400" b="1">
                <a:solidFill>
                  <a:srgbClr val="A8231C"/>
                </a:solidFill>
                <a:latin typeface="Arial"/>
              </a:rPr>
              <a:t>[[fill: S1 %]]</a:t>
            </a:r>
          </a:p>
          <a:p>
            <a:pPr algn="l">
              <a:lnSpc>
                <a:spcPct val="110000"/>
              </a:lnSpc>
              <a:spcAft>
                <a:spcPts val="0"/>
              </a:spcAft>
            </a:pPr>
            <a:r>
              <a:rPr sz="1600" b="0">
                <a:solidFill>
                  <a:srgbClr val="1D2321"/>
                </a:solidFill>
                <a:latin typeface="Arial"/>
              </a:rPr>
              <a:t>of red-team attacks got the planner alone, a typical single-model agent wallet, to sign a bad payment</a:t>
            </a:r>
          </a:p>
        </p:txBody>
      </p:sp>
      <p:sp>
        <p:nvSpPr>
          <p:cNvPr id="10" name="Rounded Rectangle 9"/>
          <p:cNvSpPr/>
          <p:nvPr/>
        </p:nvSpPr>
        <p:spPr>
          <a:xfrm>
            <a:off x="6263640" y="2560320"/>
            <a:ext cx="5349240" cy="2377440"/>
          </a:xfrm>
          <a:prstGeom prst="roundRect">
            <a:avLst>
              <a:gd name="adj" fmla="val 8000"/>
            </a:avLst>
          </a:prstGeom>
          <a:solidFill>
            <a:srgbClr val="EC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28232" y="2651760"/>
            <a:ext cx="5020056" cy="2194560"/>
          </a:xfrm>
          <a:prstGeom prst="rect">
            <a:avLst/>
          </a:prstGeom>
          <a:noFill/>
        </p:spPr>
        <p:txBody>
          <a:bodyPr wrap="square" anchor="ctr" lIns="18288" rIns="18288" tIns="18288" bIns="18288">
            <a:spAutoFit/>
          </a:bodyPr>
          <a:lstStyle/>
          <a:p>
            <a:pPr algn="l">
              <a:lnSpc>
                <a:spcPct val="110000"/>
              </a:lnSpc>
              <a:spcAft>
                <a:spcPts val="700"/>
              </a:spcAft>
            </a:pPr>
            <a:r>
              <a:rPr sz="2400" b="1">
                <a:solidFill>
                  <a:srgbClr val="0B5D3B"/>
                </a:solidFill>
                <a:latin typeface="Arial"/>
              </a:rPr>
              <a:t>[[fill: attacks that moved funds]]</a:t>
            </a:r>
          </a:p>
          <a:p>
            <a:pPr algn="l">
              <a:lnSpc>
                <a:spcPct val="110000"/>
              </a:lnSpc>
              <a:spcAft>
                <a:spcPts val="0"/>
              </a:spcAft>
            </a:pPr>
            <a:r>
              <a:rPr sz="1600" b="0">
                <a:solidFill>
                  <a:srgbClr val="1D2321"/>
                </a:solidFill>
                <a:latin typeface="Arial"/>
              </a:rPr>
              <a:t>attacks moved any funds through Amanah's quorum and contract, on the same attack set</a:t>
            </a:r>
          </a:p>
        </p:txBody>
      </p:sp>
      <p:sp>
        <p:nvSpPr>
          <p:cNvPr id="12" name="TextBox 11"/>
          <p:cNvSpPr txBox="1"/>
          <p:nvPr/>
        </p:nvSpPr>
        <p:spPr>
          <a:xfrm>
            <a:off x="548640" y="5257800"/>
            <a:ext cx="10972800" cy="731520"/>
          </a:xfrm>
          <a:prstGeom prst="rect">
            <a:avLst/>
          </a:prstGeom>
          <a:noFill/>
        </p:spPr>
        <p:txBody>
          <a:bodyPr wrap="square" anchor="t" lIns="18288" rIns="18288" tIns="18288" bIns="18288">
            <a:spAutoFit/>
          </a:bodyPr>
          <a:lstStyle/>
          <a:p>
            <a:pPr algn="l">
              <a:lnSpc>
                <a:spcPct val="110000"/>
              </a:lnSpc>
              <a:spcAft>
                <a:spcPts val="700"/>
              </a:spcAft>
            </a:pPr>
            <a:r>
              <a:rPr sz="1600" b="1">
                <a:solidFill>
                  <a:srgbClr val="1D2321"/>
                </a:solidFill>
                <a:latin typeface="Arial"/>
              </a:rPr>
              <a:t>Team [[fill: team name]] · Universiti Teknologi PETRONAS, Malaysia</a:t>
            </a:r>
          </a:p>
          <a:p>
            <a:pPr algn="l">
              <a:lnSpc>
                <a:spcPct val="110000"/>
              </a:lnSpc>
              <a:spcAft>
                <a:spcPts val="0"/>
              </a:spcAft>
            </a:pPr>
            <a:r>
              <a:rPr sz="1400" b="0">
                <a:solidFill>
                  <a:srgbClr val="5B6661"/>
                </a:solidFill>
                <a:latin typeface="Arial"/>
              </a:rPr>
              <a:t>[[fill: member names]]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1094415" cy="320040"/>
          </a:xfrm>
          <a:prstGeom prst="rect">
            <a:avLst/>
          </a:prstGeom>
          <a:noFill/>
        </p:spPr>
        <p:txBody>
          <a:bodyPr wrap="square" anchor="t" lIns="18288" rIns="18288" tIns="18288" bIns="18288">
            <a:spAutoFit/>
          </a:bodyPr>
          <a:lstStyle/>
          <a:p>
            <a:pPr algn="l">
              <a:lnSpc>
                <a:spcPct val="110000"/>
              </a:lnSpc>
              <a:spcAft>
                <a:spcPts val="0"/>
              </a:spcAft>
            </a:pPr>
            <a:r>
              <a:rPr sz="1200" b="1">
                <a:solidFill>
                  <a:srgbClr val="0B5D3B"/>
                </a:solidFill>
                <a:latin typeface="Arial"/>
              </a:rPr>
              <a:t>1 · THE PROBLEM</a:t>
            </a:r>
          </a:p>
        </p:txBody>
      </p:sp>
      <p:sp>
        <p:nvSpPr>
          <p:cNvPr id="3" name="TextBox 2"/>
          <p:cNvSpPr txBox="1"/>
          <p:nvPr/>
        </p:nvSpPr>
        <p:spPr>
          <a:xfrm>
            <a:off x="548640" y="658368"/>
            <a:ext cx="11094415" cy="1097280"/>
          </a:xfrm>
          <a:prstGeom prst="rect">
            <a:avLst/>
          </a:prstGeom>
          <a:noFill/>
        </p:spPr>
        <p:txBody>
          <a:bodyPr wrap="square" anchor="t" lIns="18288" rIns="18288" tIns="18288" bIns="18288">
            <a:spAutoFit/>
          </a:bodyPr>
          <a:lstStyle/>
          <a:p>
            <a:pPr algn="l">
              <a:lnSpc>
                <a:spcPct val="100000"/>
              </a:lnSpc>
              <a:spcAft>
                <a:spcPts val="0"/>
              </a:spcAft>
            </a:pPr>
            <a:r>
              <a:rPr sz="2800" b="1">
                <a:solidFill>
                  <a:srgbClr val="1D2321"/>
                </a:solidFill>
                <a:latin typeface="Arial"/>
              </a:rPr>
              <a:t>Prompt injection is persuasion, and most agent wallets have one model to persuade</a:t>
            </a:r>
          </a:p>
        </p:txBody>
      </p:sp>
      <p:sp>
        <p:nvSpPr>
          <p:cNvPr id="4" name="Rectangle 3"/>
          <p:cNvSpPr/>
          <p:nvPr/>
        </p:nvSpPr>
        <p:spPr>
          <a:xfrm>
            <a:off x="548640" y="6291072"/>
            <a:ext cx="11094415" cy="9525"/>
          </a:xfrm>
          <a:prstGeom prst="rect">
            <a:avLst/>
          </a:prstGeom>
          <a:solidFill>
            <a:srgbClr val="C9D6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355080"/>
            <a:ext cx="9631375" cy="365760"/>
          </a:xfrm>
          <a:prstGeom prst="rect">
            <a:avLst/>
          </a:prstGeom>
          <a:noFill/>
        </p:spPr>
        <p:txBody>
          <a:bodyPr wrap="square" anchor="t" lIns="18288" rIns="18288" tIns="18288" bIns="18288">
            <a:spAutoFit/>
          </a:bodyPr>
          <a:lstStyle/>
          <a:p>
            <a:pPr algn="l">
              <a:lnSpc>
                <a:spcPct val="110000"/>
              </a:lnSpc>
              <a:spcAft>
                <a:spcPts val="0"/>
              </a:spcAft>
            </a:pPr>
            <a:r>
              <a:rPr sz="1000" b="0">
                <a:solidFill>
                  <a:srgbClr val="5B6661"/>
                </a:solidFill>
                <a:latin typeface="Arial"/>
              </a:rPr>
              <a:t>Source: README section 1: The Block, FBI and NCC Group, Giskard and OECD, Zscaler, ICML 2025</a:t>
            </a:r>
          </a:p>
        </p:txBody>
      </p:sp>
      <p:sp>
        <p:nvSpPr>
          <p:cNvPr id="6" name="TextBox 5"/>
          <p:cNvSpPr txBox="1"/>
          <p:nvPr/>
        </p:nvSpPr>
        <p:spPr>
          <a:xfrm>
            <a:off x="10362895" y="6355080"/>
            <a:ext cx="1280160" cy="365760"/>
          </a:xfrm>
          <a:prstGeom prst="rect">
            <a:avLst/>
          </a:prstGeom>
          <a:noFill/>
        </p:spPr>
        <p:txBody>
          <a:bodyPr wrap="square" anchor="t" lIns="18288" rIns="18288" tIns="18288" bIns="18288">
            <a:spAutoFit/>
          </a:bodyPr>
          <a:lstStyle/>
          <a:p>
            <a:pPr algn="r">
              <a:lnSpc>
                <a:spcPct val="110000"/>
              </a:lnSpc>
              <a:spcAft>
                <a:spcPts val="0"/>
              </a:spcAft>
            </a:pPr>
            <a:r>
              <a:rPr sz="1000" b="0">
                <a:solidFill>
                  <a:srgbClr val="5B6661"/>
                </a:solidFill>
                <a:latin typeface="Arial"/>
              </a:rPr>
              <a:t>Amanah  2 / 11</a:t>
            </a:r>
          </a:p>
        </p:txBody>
      </p:sp>
      <p:graphicFrame>
        <p:nvGraphicFramePr>
          <p:cNvPr id="7" name="Table 6"/>
          <p:cNvGraphicFramePr>
            <a:graphicFrameLocks noGrp="1"/>
          </p:cNvGraphicFramePr>
          <p:nvPr/>
        </p:nvGraphicFramePr>
        <p:xfrm>
          <a:off x="548640" y="1874519"/>
          <a:ext cx="7406639" cy="3886200"/>
        </p:xfrm>
        <a:graphic>
          <a:graphicData uri="http://schemas.openxmlformats.org/drawingml/2006/table">
            <a:tbl>
              <a:tblPr firstRow="1" bandRow="1">
                <a:tableStyleId>{5C22544A-7EE6-4342-B048-85BDC9FD1C3A}</a:tableStyleId>
              </a:tblPr>
              <a:tblGrid>
                <a:gridCol w="1110996"/>
                <a:gridCol w="4592116"/>
                <a:gridCol w="1703527"/>
              </a:tblGrid>
              <a:tr h="777240">
                <a:tc>
                  <a:txBody>
                    <a:bodyPr wrap="square"/>
                    <a:lstStyle/>
                    <a:p>
                      <a:r>
                        <a:rPr sz="1300" b="1">
                          <a:solidFill>
                            <a:srgbClr val="FFFFFF"/>
                          </a:solidFill>
                          <a:latin typeface="Arial"/>
                        </a:rPr>
                        <a:t>When</a:t>
                      </a:r>
                    </a:p>
                  </a:txBody>
                  <a:tcPr marL="91440" marR="91440" marT="45720" marB="45720" anchor="ctr">
                    <a:solidFill>
                      <a:srgbClr val="0B5D3B"/>
                    </a:solidFill>
                  </a:tcPr>
                </a:tc>
                <a:tc>
                  <a:txBody>
                    <a:bodyPr wrap="square"/>
                    <a:lstStyle/>
                    <a:p>
                      <a:r>
                        <a:rPr sz="1300" b="1">
                          <a:solidFill>
                            <a:srgbClr val="FFFFFF"/>
                          </a:solidFill>
                          <a:latin typeface="Arial"/>
                        </a:rPr>
                        <a:t>What happened</a:t>
                      </a:r>
                    </a:p>
                  </a:txBody>
                  <a:tcPr marL="91440" marR="91440" marT="45720" marB="45720" anchor="ctr">
                    <a:solidFill>
                      <a:srgbClr val="0B5D3B"/>
                    </a:solidFill>
                  </a:tcPr>
                </a:tc>
                <a:tc>
                  <a:txBody>
                    <a:bodyPr wrap="square"/>
                    <a:lstStyle/>
                    <a:p>
                      <a:r>
                        <a:rPr sz="1300" b="1">
                          <a:solidFill>
                            <a:srgbClr val="FFFFFF"/>
                          </a:solidFill>
                          <a:latin typeface="Arial"/>
                        </a:rPr>
                        <a:t>Loss</a:t>
                      </a:r>
                    </a:p>
                  </a:txBody>
                  <a:tcPr marL="91440" marR="91440" marT="45720" marB="45720" anchor="ctr">
                    <a:solidFill>
                      <a:srgbClr val="0B5D3B"/>
                    </a:solidFill>
                  </a:tcPr>
                </a:tc>
              </a:tr>
              <a:tr h="777240">
                <a:tc>
                  <a:txBody>
                    <a:bodyPr wrap="square"/>
                    <a:lstStyle/>
                    <a:p>
                      <a:r>
                        <a:rPr sz="1400" b="1">
                          <a:solidFill>
                            <a:srgbClr val="1D2321"/>
                          </a:solidFill>
                          <a:latin typeface="Arial"/>
                        </a:rPr>
                        <a:t>Nov 2024</a:t>
                      </a:r>
                    </a:p>
                  </a:txBody>
                  <a:tcPr marL="91440" marR="91440" marT="45720" marB="45720" anchor="ctr">
                    <a:solidFill>
                      <a:srgbClr val="FFFFFF"/>
                    </a:solidFill>
                  </a:tcPr>
                </a:tc>
                <a:tc>
                  <a:txBody>
                    <a:bodyPr wrap="square"/>
                    <a:lstStyle/>
                    <a:p>
                      <a:r>
                        <a:rPr sz="1400" b="0">
                          <a:solidFill>
                            <a:srgbClr val="1D2321"/>
                          </a:solidFill>
                          <a:latin typeface="Arial"/>
                        </a:rPr>
                        <a:t>Freysa released its prize pool when one message redefined its transfer tool</a:t>
                      </a:r>
                    </a:p>
                  </a:txBody>
                  <a:tcPr marL="91440" marR="91440" marT="45720" marB="45720" anchor="ctr">
                    <a:solidFill>
                      <a:srgbClr val="FFFFFF"/>
                    </a:solidFill>
                  </a:tcPr>
                </a:tc>
                <a:tc>
                  <a:txBody>
                    <a:bodyPr wrap="square"/>
                    <a:lstStyle/>
                    <a:p>
                      <a:r>
                        <a:rPr sz="1400" b="0">
                          <a:solidFill>
                            <a:srgbClr val="1D2321"/>
                          </a:solidFill>
                          <a:latin typeface="Arial"/>
                        </a:rPr>
                        <a:t>about US$47K</a:t>
                      </a:r>
                    </a:p>
                  </a:txBody>
                  <a:tcPr marL="91440" marR="91440" marT="45720" marB="45720" anchor="ctr">
                    <a:solidFill>
                      <a:srgbClr val="FFFFFF"/>
                    </a:solidFill>
                  </a:tcPr>
                </a:tc>
              </a:tr>
              <a:tr h="777240">
                <a:tc>
                  <a:txBody>
                    <a:bodyPr wrap="square"/>
                    <a:lstStyle/>
                    <a:p>
                      <a:r>
                        <a:rPr sz="1400" b="1">
                          <a:solidFill>
                            <a:srgbClr val="1D2321"/>
                          </a:solidFill>
                          <a:latin typeface="Arial"/>
                        </a:rPr>
                        <a:t>Feb 2025</a:t>
                      </a:r>
                    </a:p>
                  </a:txBody>
                  <a:tcPr marL="91440" marR="91440" marT="45720" marB="45720" anchor="ctr">
                    <a:solidFill>
                      <a:srgbClr val="ECF3EF"/>
                    </a:solidFill>
                  </a:tcPr>
                </a:tc>
                <a:tc>
                  <a:txBody>
                    <a:bodyPr wrap="square"/>
                    <a:lstStyle/>
                    <a:p>
                      <a:r>
                        <a:rPr sz="1400" b="0">
                          <a:solidFill>
                            <a:srgbClr val="1D2321"/>
                          </a:solidFill>
                          <a:latin typeface="Arial"/>
                        </a:rPr>
                        <a:t>Bybit's signers approved a malicious payload while the screen showed the right address</a:t>
                      </a:r>
                    </a:p>
                  </a:txBody>
                  <a:tcPr marL="91440" marR="91440" marT="45720" marB="45720" anchor="ctr">
                    <a:solidFill>
                      <a:srgbClr val="ECF3EF"/>
                    </a:solidFill>
                  </a:tcPr>
                </a:tc>
                <a:tc>
                  <a:txBody>
                    <a:bodyPr wrap="square"/>
                    <a:lstStyle/>
                    <a:p>
                      <a:r>
                        <a:rPr sz="1400" b="0">
                          <a:solidFill>
                            <a:srgbClr val="1D2321"/>
                          </a:solidFill>
                          <a:latin typeface="Arial"/>
                        </a:rPr>
                        <a:t>about US$1.5B</a:t>
                      </a:r>
                    </a:p>
                  </a:txBody>
                  <a:tcPr marL="91440" marR="91440" marT="45720" marB="45720" anchor="ctr">
                    <a:solidFill>
                      <a:srgbClr val="ECF3EF"/>
                    </a:solidFill>
                  </a:tcPr>
                </a:tc>
              </a:tr>
              <a:tr h="777240">
                <a:tc>
                  <a:txBody>
                    <a:bodyPr wrap="square"/>
                    <a:lstStyle/>
                    <a:p>
                      <a:r>
                        <a:rPr sz="1400" b="1">
                          <a:solidFill>
                            <a:srgbClr val="1D2321"/>
                          </a:solidFill>
                          <a:latin typeface="Arial"/>
                        </a:rPr>
                        <a:t>May 2026</a:t>
                      </a:r>
                    </a:p>
                  </a:txBody>
                  <a:tcPr marL="91440" marR="91440" marT="45720" marB="45720" anchor="ctr">
                    <a:solidFill>
                      <a:srgbClr val="FFFFFF"/>
                    </a:solidFill>
                  </a:tcPr>
                </a:tc>
                <a:tc>
                  <a:txBody>
                    <a:bodyPr wrap="square"/>
                    <a:lstStyle/>
                    <a:p>
                      <a:r>
                        <a:rPr sz="1400" b="0">
                          <a:solidFill>
                            <a:srgbClr val="1D2321"/>
                          </a:solidFill>
                          <a:latin typeface="Arial"/>
                        </a:rPr>
                        <a:t>An NFT gave an AI wallet rights; an encoded message then made it send 3B DRB</a:t>
                      </a:r>
                    </a:p>
                  </a:txBody>
                  <a:tcPr marL="91440" marR="91440" marT="45720" marB="45720" anchor="ctr">
                    <a:solidFill>
                      <a:srgbClr val="FFFFFF"/>
                    </a:solidFill>
                  </a:tcPr>
                </a:tc>
                <a:tc>
                  <a:txBody>
                    <a:bodyPr wrap="square"/>
                    <a:lstStyle/>
                    <a:p>
                      <a:r>
                        <a:rPr sz="1400" b="0">
                          <a:solidFill>
                            <a:srgbClr val="1D2321"/>
                          </a:solidFill>
                          <a:latin typeface="Arial"/>
                        </a:rPr>
                        <a:t>about US$150K to 200K</a:t>
                      </a:r>
                    </a:p>
                  </a:txBody>
                  <a:tcPr marL="91440" marR="91440" marT="45720" marB="45720" anchor="ctr">
                    <a:solidFill>
                      <a:srgbClr val="FFFFFF"/>
                    </a:solidFill>
                  </a:tcPr>
                </a:tc>
              </a:tr>
              <a:tr h="777240">
                <a:tc>
                  <a:txBody>
                    <a:bodyPr wrap="square"/>
                    <a:lstStyle/>
                    <a:p>
                      <a:r>
                        <a:rPr sz="1400" b="1">
                          <a:solidFill>
                            <a:srgbClr val="1D2321"/>
                          </a:solidFill>
                          <a:latin typeface="Arial"/>
                        </a:rPr>
                        <a:t>Jul 2026</a:t>
                      </a:r>
                    </a:p>
                  </a:txBody>
                  <a:tcPr marL="91440" marR="91440" marT="45720" marB="45720" anchor="ctr">
                    <a:solidFill>
                      <a:srgbClr val="ECF3EF"/>
                    </a:solidFill>
                  </a:tcPr>
                </a:tc>
                <a:tc>
                  <a:txBody>
                    <a:bodyPr wrap="square"/>
                    <a:lstStyle/>
                    <a:p>
                      <a:r>
                        <a:rPr sz="1400" b="0">
                          <a:solidFill>
                            <a:srgbClr val="1D2321"/>
                          </a:solidFill>
                          <a:latin typeface="Arial"/>
                        </a:rPr>
                        <a:t>Live websites hid payment instructions for agents; 4 of 26 models paid</a:t>
                      </a:r>
                    </a:p>
                  </a:txBody>
                  <a:tcPr marL="91440" marR="91440" marT="45720" marB="45720" anchor="ctr">
                    <a:solidFill>
                      <a:srgbClr val="ECF3EF"/>
                    </a:solidFill>
                  </a:tcPr>
                </a:tc>
                <a:tc>
                  <a:txBody>
                    <a:bodyPr wrap="square"/>
                    <a:lstStyle/>
                    <a:p>
                      <a:r>
                        <a:rPr sz="1400" b="0">
                          <a:solidFill>
                            <a:srgbClr val="1D2321"/>
                          </a:solidFill>
                          <a:latin typeface="Arial"/>
                        </a:rPr>
                        <a:t>sandbox test</a:t>
                      </a:r>
                    </a:p>
                  </a:txBody>
                  <a:tcPr marL="91440" marR="91440" marT="45720" marB="45720" anchor="ctr">
                    <a:solidFill>
                      <a:srgbClr val="ECF3EF"/>
                    </a:solidFill>
                  </a:tcPr>
                </a:tc>
              </a:tr>
            </a:tbl>
          </a:graphicData>
        </a:graphic>
      </p:graphicFrame>
      <p:sp>
        <p:nvSpPr>
          <p:cNvPr id="8" name="Rounded Rectangle 7"/>
          <p:cNvSpPr/>
          <p:nvPr/>
        </p:nvSpPr>
        <p:spPr>
          <a:xfrm>
            <a:off x="8275319" y="1874519"/>
            <a:ext cx="3337560" cy="3886200"/>
          </a:xfrm>
          <a:prstGeom prst="roundRect">
            <a:avLst>
              <a:gd name="adj" fmla="val 8000"/>
            </a:avLst>
          </a:prstGeom>
          <a:solidFill>
            <a:srgbClr val="EC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439911" y="1965959"/>
            <a:ext cx="3008376" cy="3703320"/>
          </a:xfrm>
          <a:prstGeom prst="rect">
            <a:avLst/>
          </a:prstGeom>
          <a:noFill/>
        </p:spPr>
        <p:txBody>
          <a:bodyPr wrap="square" anchor="t" lIns="18288" rIns="18288" tIns="18288" bIns="18288">
            <a:spAutoFit/>
          </a:bodyPr>
          <a:lstStyle/>
          <a:p>
            <a:pPr algn="l">
              <a:lnSpc>
                <a:spcPct val="110000"/>
              </a:lnSpc>
              <a:spcAft>
                <a:spcPts val="700"/>
              </a:spcAft>
            </a:pPr>
            <a:r>
              <a:rPr sz="1600" b="1">
                <a:solidFill>
                  <a:srgbClr val="0B5D3B"/>
                </a:solidFill>
                <a:latin typeface="Arial"/>
              </a:rPr>
              <a:t>Why existing controls miss it</a:t>
            </a:r>
          </a:p>
          <a:p>
            <a:pPr algn="l">
              <a:lnSpc>
                <a:spcPct val="110000"/>
              </a:lnSpc>
              <a:spcAft>
                <a:spcPts val="700"/>
              </a:spcAft>
            </a:pPr>
            <a:r>
              <a:rPr sz="1500" b="0">
                <a:solidFill>
                  <a:srgbClr val="1D2321"/>
                </a:solidFill>
                <a:latin typeface="Arial"/>
              </a:rPr>
              <a:t>Policy engines check who, how much and how often.</a:t>
            </a:r>
          </a:p>
          <a:p>
            <a:pPr algn="l">
              <a:lnSpc>
                <a:spcPct val="110000"/>
              </a:lnSpc>
              <a:spcAft>
                <a:spcPts val="700"/>
              </a:spcAft>
            </a:pPr>
            <a:r>
              <a:rPr sz="1500" b="0">
                <a:solidFill>
                  <a:srgbClr val="1D2321"/>
                </a:solidFill>
                <a:latin typeface="Arial"/>
              </a:rPr>
              <a:t>An injected payout to a known address, under the cap, passes all three.</a:t>
            </a:r>
          </a:p>
          <a:p>
            <a:pPr algn="l">
              <a:lnSpc>
                <a:spcPct val="110000"/>
              </a:lnSpc>
              <a:spcAft>
                <a:spcPts val="0"/>
              </a:spcAft>
            </a:pPr>
            <a:r>
              <a:rPr sz="1500" b="0">
                <a:solidFill>
                  <a:srgbClr val="1D2321"/>
                </a:solidFill>
                <a:latin typeface="Arial"/>
              </a:rPr>
              <a:t>When two models are both wrong, they pick the same wrong answer about 60% of the time (ICML 2025).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1094415" cy="320040"/>
          </a:xfrm>
          <a:prstGeom prst="rect">
            <a:avLst/>
          </a:prstGeom>
          <a:noFill/>
        </p:spPr>
        <p:txBody>
          <a:bodyPr wrap="square" anchor="t" lIns="18288" rIns="18288" tIns="18288" bIns="18288">
            <a:spAutoFit/>
          </a:bodyPr>
          <a:lstStyle/>
          <a:p>
            <a:pPr algn="l">
              <a:lnSpc>
                <a:spcPct val="110000"/>
              </a:lnSpc>
              <a:spcAft>
                <a:spcPts val="0"/>
              </a:spcAft>
            </a:pPr>
            <a:r>
              <a:rPr sz="1200" b="1">
                <a:solidFill>
                  <a:srgbClr val="0B5D3B"/>
                </a:solidFill>
                <a:latin typeface="Arial"/>
              </a:rPr>
              <a:t>2 · WHO IT IS FOR</a:t>
            </a:r>
          </a:p>
        </p:txBody>
      </p:sp>
      <p:sp>
        <p:nvSpPr>
          <p:cNvPr id="3" name="TextBox 2"/>
          <p:cNvSpPr txBox="1"/>
          <p:nvPr/>
        </p:nvSpPr>
        <p:spPr>
          <a:xfrm>
            <a:off x="548640" y="658368"/>
            <a:ext cx="11094415" cy="1097280"/>
          </a:xfrm>
          <a:prstGeom prst="rect">
            <a:avLst/>
          </a:prstGeom>
          <a:noFill/>
        </p:spPr>
        <p:txBody>
          <a:bodyPr wrap="square" anchor="t" lIns="18288" rIns="18288" tIns="18288" bIns="18288">
            <a:spAutoFit/>
          </a:bodyPr>
          <a:lstStyle/>
          <a:p>
            <a:pPr algn="l">
              <a:lnSpc>
                <a:spcPct val="100000"/>
              </a:lnSpc>
              <a:spcAft>
                <a:spcPts val="0"/>
              </a:spcAft>
            </a:pPr>
            <a:r>
              <a:rPr sz="2800" b="1">
                <a:solidFill>
                  <a:srgbClr val="1D2321"/>
                </a:solidFill>
                <a:latin typeface="Arial"/>
              </a:rPr>
              <a:t>For money held in trust, the payer, the owner and the recipient are three different people</a:t>
            </a:r>
          </a:p>
        </p:txBody>
      </p:sp>
      <p:sp>
        <p:nvSpPr>
          <p:cNvPr id="4" name="Rectangle 3"/>
          <p:cNvSpPr/>
          <p:nvPr/>
        </p:nvSpPr>
        <p:spPr>
          <a:xfrm>
            <a:off x="548640" y="6291072"/>
            <a:ext cx="11094415" cy="9525"/>
          </a:xfrm>
          <a:prstGeom prst="rect">
            <a:avLst/>
          </a:prstGeom>
          <a:solidFill>
            <a:srgbClr val="C9D6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355080"/>
            <a:ext cx="9631375" cy="365760"/>
          </a:xfrm>
          <a:prstGeom prst="rect">
            <a:avLst/>
          </a:prstGeom>
          <a:noFill/>
        </p:spPr>
        <p:txBody>
          <a:bodyPr wrap="square" anchor="t" lIns="18288" rIns="18288" tIns="18288" bIns="18288">
            <a:spAutoFit/>
          </a:bodyPr>
          <a:lstStyle/>
          <a:p>
            <a:pPr algn="l">
              <a:lnSpc>
                <a:spcPct val="110000"/>
              </a:lnSpc>
              <a:spcAft>
                <a:spcPts val="0"/>
              </a:spcAft>
            </a:pPr>
            <a:r>
              <a:rPr sz="1000" b="0">
                <a:solidFill>
                  <a:srgbClr val="5B6661"/>
                </a:solidFill>
                <a:latin typeface="Arial"/>
              </a:rPr>
              <a:t>Source: README section 2: Utusan, ALNAP, WFP</a:t>
            </a:r>
          </a:p>
        </p:txBody>
      </p:sp>
      <p:sp>
        <p:nvSpPr>
          <p:cNvPr id="6" name="TextBox 5"/>
          <p:cNvSpPr txBox="1"/>
          <p:nvPr/>
        </p:nvSpPr>
        <p:spPr>
          <a:xfrm>
            <a:off x="10362895" y="6355080"/>
            <a:ext cx="1280160" cy="365760"/>
          </a:xfrm>
          <a:prstGeom prst="rect">
            <a:avLst/>
          </a:prstGeom>
          <a:noFill/>
        </p:spPr>
        <p:txBody>
          <a:bodyPr wrap="square" anchor="t" lIns="18288" rIns="18288" tIns="18288" bIns="18288">
            <a:spAutoFit/>
          </a:bodyPr>
          <a:lstStyle/>
          <a:p>
            <a:pPr algn="r">
              <a:lnSpc>
                <a:spcPct val="110000"/>
              </a:lnSpc>
              <a:spcAft>
                <a:spcPts val="0"/>
              </a:spcAft>
            </a:pPr>
            <a:r>
              <a:rPr sz="1000" b="0">
                <a:solidFill>
                  <a:srgbClr val="5B6661"/>
                </a:solidFill>
                <a:latin typeface="Arial"/>
              </a:rPr>
              <a:t>Amanah  3 / 11</a:t>
            </a:r>
          </a:p>
        </p:txBody>
      </p:sp>
      <p:sp>
        <p:nvSpPr>
          <p:cNvPr id="7" name="Rounded Rectangle 6"/>
          <p:cNvSpPr/>
          <p:nvPr/>
        </p:nvSpPr>
        <p:spPr>
          <a:xfrm>
            <a:off x="548640" y="1874519"/>
            <a:ext cx="3429000" cy="1325880"/>
          </a:xfrm>
          <a:prstGeom prst="roundRect">
            <a:avLst>
              <a:gd name="adj" fmla="val 8000"/>
            </a:avLst>
          </a:prstGeom>
          <a:solidFill>
            <a:srgbClr val="EC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13232" y="1965959"/>
            <a:ext cx="3099816" cy="1143000"/>
          </a:xfrm>
          <a:prstGeom prst="rect">
            <a:avLst/>
          </a:prstGeom>
          <a:noFill/>
        </p:spPr>
        <p:txBody>
          <a:bodyPr wrap="square" anchor="ctr" lIns="18288" rIns="18288" tIns="18288" bIns="18288">
            <a:spAutoFit/>
          </a:bodyPr>
          <a:lstStyle/>
          <a:p>
            <a:pPr algn="l">
              <a:lnSpc>
                <a:spcPct val="110000"/>
              </a:lnSpc>
              <a:spcAft>
                <a:spcPts val="700"/>
              </a:spcAft>
            </a:pPr>
            <a:r>
              <a:rPr sz="1800" b="1">
                <a:solidFill>
                  <a:srgbClr val="0B5D3B"/>
                </a:solidFill>
                <a:latin typeface="Arial"/>
              </a:rPr>
              <a:t>The payer</a:t>
            </a:r>
          </a:p>
          <a:p>
            <a:pPr algn="l">
              <a:lnSpc>
                <a:spcPct val="110000"/>
              </a:lnSpc>
              <a:spcAft>
                <a:spcPts val="0"/>
              </a:spcAft>
            </a:pPr>
            <a:r>
              <a:rPr sz="1500" b="0">
                <a:solidFill>
                  <a:srgbClr val="1D2321"/>
                </a:solidFill>
                <a:latin typeface="Arial"/>
              </a:rPr>
              <a:t>a steward: a zakat institution, a charity, an aid agency</a:t>
            </a:r>
          </a:p>
        </p:txBody>
      </p:sp>
      <p:sp>
        <p:nvSpPr>
          <p:cNvPr id="9" name="Right Arrow 8"/>
          <p:cNvSpPr/>
          <p:nvPr/>
        </p:nvSpPr>
        <p:spPr>
          <a:xfrm>
            <a:off x="4023360" y="2404871"/>
            <a:ext cx="292608" cy="274320"/>
          </a:xfrm>
          <a:prstGeom prst="rightArrow">
            <a:avLst/>
          </a:prstGeom>
          <a:solidFill>
            <a:srgbClr val="0B5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343400" y="1874519"/>
            <a:ext cx="3429000" cy="1325880"/>
          </a:xfrm>
          <a:prstGeom prst="roundRect">
            <a:avLst>
              <a:gd name="adj" fmla="val 8000"/>
            </a:avLst>
          </a:prstGeom>
          <a:solidFill>
            <a:srgbClr val="EC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507992" y="1965959"/>
            <a:ext cx="3099816" cy="1143000"/>
          </a:xfrm>
          <a:prstGeom prst="rect">
            <a:avLst/>
          </a:prstGeom>
          <a:noFill/>
        </p:spPr>
        <p:txBody>
          <a:bodyPr wrap="square" anchor="ctr" lIns="18288" rIns="18288" tIns="18288" bIns="18288">
            <a:spAutoFit/>
          </a:bodyPr>
          <a:lstStyle/>
          <a:p>
            <a:pPr algn="l">
              <a:lnSpc>
                <a:spcPct val="110000"/>
              </a:lnSpc>
              <a:spcAft>
                <a:spcPts val="700"/>
              </a:spcAft>
            </a:pPr>
            <a:r>
              <a:rPr sz="1800" b="1">
                <a:solidFill>
                  <a:srgbClr val="0B5D3B"/>
                </a:solidFill>
                <a:latin typeface="Arial"/>
              </a:rPr>
              <a:t>The owner</a:t>
            </a:r>
          </a:p>
          <a:p>
            <a:pPr algn="l">
              <a:lnSpc>
                <a:spcPct val="110000"/>
              </a:lnSpc>
              <a:spcAft>
                <a:spcPts val="0"/>
              </a:spcAft>
            </a:pPr>
            <a:r>
              <a:rPr sz="1500" b="0">
                <a:solidFill>
                  <a:srgbClr val="1D2321"/>
                </a:solidFill>
                <a:latin typeface="Arial"/>
              </a:rPr>
              <a:t>the public that gave the money</a:t>
            </a:r>
          </a:p>
        </p:txBody>
      </p:sp>
      <p:sp>
        <p:nvSpPr>
          <p:cNvPr id="12" name="Right Arrow 11"/>
          <p:cNvSpPr/>
          <p:nvPr/>
        </p:nvSpPr>
        <p:spPr>
          <a:xfrm>
            <a:off x="7818120" y="2404871"/>
            <a:ext cx="292608" cy="274320"/>
          </a:xfrm>
          <a:prstGeom prst="rightArrow">
            <a:avLst/>
          </a:prstGeom>
          <a:solidFill>
            <a:srgbClr val="0B5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138160" y="1874519"/>
            <a:ext cx="3429000" cy="1325880"/>
          </a:xfrm>
          <a:prstGeom prst="roundRect">
            <a:avLst>
              <a:gd name="adj" fmla="val 8000"/>
            </a:avLst>
          </a:prstGeom>
          <a:solidFill>
            <a:srgbClr val="EC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302752" y="1965959"/>
            <a:ext cx="3099816" cy="1143000"/>
          </a:xfrm>
          <a:prstGeom prst="rect">
            <a:avLst/>
          </a:prstGeom>
          <a:noFill/>
        </p:spPr>
        <p:txBody>
          <a:bodyPr wrap="square" anchor="ctr" lIns="18288" rIns="18288" tIns="18288" bIns="18288">
            <a:spAutoFit/>
          </a:bodyPr>
          <a:lstStyle/>
          <a:p>
            <a:pPr algn="l">
              <a:lnSpc>
                <a:spcPct val="110000"/>
              </a:lnSpc>
              <a:spcAft>
                <a:spcPts val="700"/>
              </a:spcAft>
            </a:pPr>
            <a:r>
              <a:rPr sz="1800" b="1">
                <a:solidFill>
                  <a:srgbClr val="0B5D3B"/>
                </a:solidFill>
                <a:latin typeface="Arial"/>
              </a:rPr>
              <a:t>The recipient</a:t>
            </a:r>
          </a:p>
          <a:p>
            <a:pPr algn="l">
              <a:lnSpc>
                <a:spcPct val="110000"/>
              </a:lnSpc>
              <a:spcAft>
                <a:spcPts val="0"/>
              </a:spcAft>
            </a:pPr>
            <a:r>
              <a:rPr sz="1500" b="0">
                <a:solidFill>
                  <a:srgbClr val="1D2321"/>
                </a:solidFill>
                <a:latin typeface="Arial"/>
              </a:rPr>
              <a:t>vulnerable, and cannot absorb a mistake</a:t>
            </a:r>
          </a:p>
        </p:txBody>
      </p:sp>
      <p:graphicFrame>
        <p:nvGraphicFramePr>
          <p:cNvPr id="15" name="Table 14"/>
          <p:cNvGraphicFramePr>
            <a:graphicFrameLocks noGrp="1"/>
          </p:cNvGraphicFramePr>
          <p:nvPr/>
        </p:nvGraphicFramePr>
        <p:xfrm>
          <a:off x="548640" y="3566159"/>
          <a:ext cx="11094415" cy="1828800"/>
        </p:xfrm>
        <a:graphic>
          <a:graphicData uri="http://schemas.openxmlformats.org/drawingml/2006/table">
            <a:tbl>
              <a:tblPr firstRow="1" bandRow="1">
                <a:tableStyleId>{5C22544A-7EE6-4342-B048-85BDC9FD1C3A}</a:tableStyleId>
              </a:tblPr>
              <a:tblGrid>
                <a:gridCol w="4437766"/>
                <a:gridCol w="6656649"/>
              </a:tblGrid>
              <a:tr h="457200">
                <a:tc>
                  <a:txBody>
                    <a:bodyPr wrap="square"/>
                    <a:lstStyle/>
                    <a:p>
                      <a:r>
                        <a:rPr sz="1300" b="1">
                          <a:solidFill>
                            <a:srgbClr val="FFFFFF"/>
                          </a:solidFill>
                          <a:latin typeface="Arial"/>
                        </a:rPr>
                        <a:t>Fiduciary money</a:t>
                      </a:r>
                    </a:p>
                  </a:txBody>
                  <a:tcPr marL="91440" marR="91440" marT="45720" marB="45720" anchor="ctr">
                    <a:solidFill>
                      <a:srgbClr val="0B5D3B"/>
                    </a:solidFill>
                  </a:tcPr>
                </a:tc>
                <a:tc>
                  <a:txBody>
                    <a:bodyPr wrap="square"/>
                    <a:lstStyle/>
                    <a:p>
                      <a:r>
                        <a:rPr sz="1300" b="1">
                          <a:solidFill>
                            <a:srgbClr val="FFFFFF"/>
                          </a:solidFill>
                          <a:latin typeface="Arial"/>
                        </a:rPr>
                        <a:t>Scale</a:t>
                      </a:r>
                    </a:p>
                  </a:txBody>
                  <a:tcPr marL="91440" marR="91440" marT="45720" marB="45720" anchor="ctr">
                    <a:solidFill>
                      <a:srgbClr val="0B5D3B"/>
                    </a:solidFill>
                  </a:tcPr>
                </a:tc>
              </a:tr>
              <a:tr h="457200">
                <a:tc>
                  <a:txBody>
                    <a:bodyPr wrap="square"/>
                    <a:lstStyle/>
                    <a:p>
                      <a:r>
                        <a:rPr sz="1400" b="1">
                          <a:solidFill>
                            <a:srgbClr val="1D2321"/>
                          </a:solidFill>
                          <a:latin typeface="Arial"/>
                        </a:rPr>
                        <a:t>Zakat in Selangor, Malaysia, one state</a:t>
                      </a:r>
                    </a:p>
                  </a:txBody>
                  <a:tcPr marL="91440" marR="91440" marT="45720" marB="45720" anchor="ctr">
                    <a:solidFill>
                      <a:srgbClr val="FFFFFF"/>
                    </a:solidFill>
                  </a:tcPr>
                </a:tc>
                <a:tc>
                  <a:txBody>
                    <a:bodyPr wrap="square"/>
                    <a:lstStyle/>
                    <a:p>
                      <a:r>
                        <a:rPr sz="1400" b="0">
                          <a:solidFill>
                            <a:srgbClr val="1D2321"/>
                          </a:solidFill>
                          <a:latin typeface="Arial"/>
                        </a:rPr>
                        <a:t>RM1.22B collected in 2024, reaching more than 370,000 asnaf</a:t>
                      </a:r>
                    </a:p>
                  </a:txBody>
                  <a:tcPr marL="91440" marR="91440" marT="45720" marB="45720" anchor="ctr">
                    <a:solidFill>
                      <a:srgbClr val="FFFFFF"/>
                    </a:solidFill>
                  </a:tcPr>
                </a:tc>
              </a:tr>
              <a:tr h="457200">
                <a:tc>
                  <a:txBody>
                    <a:bodyPr wrap="square"/>
                    <a:lstStyle/>
                    <a:p>
                      <a:r>
                        <a:rPr sz="1400" b="1">
                          <a:solidFill>
                            <a:srgbClr val="1D2321"/>
                          </a:solidFill>
                          <a:latin typeface="Arial"/>
                        </a:rPr>
                        <a:t>Humanitarian cash and vouchers</a:t>
                      </a:r>
                    </a:p>
                  </a:txBody>
                  <a:tcPr marL="91440" marR="91440" marT="45720" marB="45720" anchor="ctr">
                    <a:solidFill>
                      <a:srgbClr val="ECF3EF"/>
                    </a:solidFill>
                  </a:tcPr>
                </a:tc>
                <a:tc>
                  <a:txBody>
                    <a:bodyPr wrap="square"/>
                    <a:lstStyle/>
                    <a:p>
                      <a:r>
                        <a:rPr sz="1400" b="0">
                          <a:solidFill>
                            <a:srgbClr val="1D2321"/>
                          </a:solidFill>
                          <a:latin typeface="Arial"/>
                        </a:rPr>
                        <a:t>US$7.3B in 2025</a:t>
                      </a:r>
                    </a:p>
                  </a:txBody>
                  <a:tcPr marL="91440" marR="91440" marT="45720" marB="45720" anchor="ctr">
                    <a:solidFill>
                      <a:srgbClr val="ECF3EF"/>
                    </a:solidFill>
                  </a:tcPr>
                </a:tc>
              </a:tr>
              <a:tr h="457200">
                <a:tc>
                  <a:txBody>
                    <a:bodyPr wrap="square"/>
                    <a:lstStyle/>
                    <a:p>
                      <a:r>
                        <a:rPr sz="1400" b="1">
                          <a:solidFill>
                            <a:srgbClr val="1D2321"/>
                          </a:solidFill>
                          <a:latin typeface="Arial"/>
                        </a:rPr>
                        <a:t>Aid already on-chain: WFP Building Blocks</a:t>
                      </a:r>
                    </a:p>
                  </a:txBody>
                  <a:tcPr marL="91440" marR="91440" marT="45720" marB="45720" anchor="ctr">
                    <a:solidFill>
                      <a:srgbClr val="FFFFFF"/>
                    </a:solidFill>
                  </a:tcPr>
                </a:tc>
                <a:tc>
                  <a:txBody>
                    <a:bodyPr wrap="square"/>
                    <a:lstStyle/>
                    <a:p>
                      <a:r>
                        <a:rPr sz="1400" b="0">
                          <a:solidFill>
                            <a:srgbClr val="1D2321"/>
                          </a:solidFill>
                          <a:latin typeface="Arial"/>
                        </a:rPr>
                        <a:t>US$555M across 25M transactions</a:t>
                      </a:r>
                    </a:p>
                  </a:txBody>
                  <a:tcPr marL="91440" marR="91440" marT="45720" marB="45720" anchor="ctr">
                    <a:solidFill>
                      <a:srgbClr val="FFFFFF"/>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1094415" cy="320040"/>
          </a:xfrm>
          <a:prstGeom prst="rect">
            <a:avLst/>
          </a:prstGeom>
          <a:noFill/>
        </p:spPr>
        <p:txBody>
          <a:bodyPr wrap="square" anchor="t" lIns="18288" rIns="18288" tIns="18288" bIns="18288">
            <a:spAutoFit/>
          </a:bodyPr>
          <a:lstStyle/>
          <a:p>
            <a:pPr algn="l">
              <a:lnSpc>
                <a:spcPct val="110000"/>
              </a:lnSpc>
              <a:spcAft>
                <a:spcPts val="0"/>
              </a:spcAft>
            </a:pPr>
            <a:r>
              <a:rPr sz="1200" b="1">
                <a:solidFill>
                  <a:srgbClr val="0B5D3B"/>
                </a:solidFill>
                <a:latin typeface="Arial"/>
              </a:rPr>
              <a:t>3 · WHAT AMANAH DOES</a:t>
            </a:r>
          </a:p>
        </p:txBody>
      </p:sp>
      <p:sp>
        <p:nvSpPr>
          <p:cNvPr id="3" name="TextBox 2"/>
          <p:cNvSpPr txBox="1"/>
          <p:nvPr/>
        </p:nvSpPr>
        <p:spPr>
          <a:xfrm>
            <a:off x="548640" y="658368"/>
            <a:ext cx="11094415" cy="1097280"/>
          </a:xfrm>
          <a:prstGeom prst="rect">
            <a:avLst/>
          </a:prstGeom>
          <a:noFill/>
        </p:spPr>
        <p:txBody>
          <a:bodyPr wrap="square" anchor="t" lIns="18288" rIns="18288" tIns="18288" bIns="18288">
            <a:spAutoFit/>
          </a:bodyPr>
          <a:lstStyle/>
          <a:p>
            <a:pPr algn="l">
              <a:lnSpc>
                <a:spcPct val="100000"/>
              </a:lnSpc>
              <a:spcAft>
                <a:spcPts val="0"/>
              </a:spcAft>
            </a:pPr>
            <a:r>
              <a:rPr sz="2800" b="1">
                <a:solidFill>
                  <a:srgbClr val="1D2321"/>
                </a:solidFill>
                <a:latin typeface="Arial"/>
              </a:rPr>
              <a:t>An officer asks in plain words, confirms one card, and the vault pays within the mandate</a:t>
            </a:r>
          </a:p>
        </p:txBody>
      </p:sp>
      <p:sp>
        <p:nvSpPr>
          <p:cNvPr id="4" name="Rectangle 3"/>
          <p:cNvSpPr/>
          <p:nvPr/>
        </p:nvSpPr>
        <p:spPr>
          <a:xfrm>
            <a:off x="548640" y="6291072"/>
            <a:ext cx="11094415" cy="9525"/>
          </a:xfrm>
          <a:prstGeom prst="rect">
            <a:avLst/>
          </a:prstGeom>
          <a:solidFill>
            <a:srgbClr val="C9D6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355080"/>
            <a:ext cx="9631375" cy="365760"/>
          </a:xfrm>
          <a:prstGeom prst="rect">
            <a:avLst/>
          </a:prstGeom>
          <a:noFill/>
        </p:spPr>
        <p:txBody>
          <a:bodyPr wrap="square" anchor="t" lIns="18288" rIns="18288" tIns="18288" bIns="18288">
            <a:spAutoFit/>
          </a:bodyPr>
          <a:lstStyle/>
          <a:p>
            <a:pPr algn="l">
              <a:lnSpc>
                <a:spcPct val="110000"/>
              </a:lnSpc>
              <a:spcAft>
                <a:spcPts val="0"/>
              </a:spcAft>
            </a:pPr>
            <a:r>
              <a:rPr sz="1000" b="0">
                <a:solidFill>
                  <a:srgbClr val="5B6661"/>
                </a:solidFill>
                <a:latin typeface="Arial"/>
              </a:rPr>
              <a:t>Source: docs/demo-transcript.md, steps 1 to 4; scenario 6 on Base Sepolia, [[fill: scenario 6 tx]]</a:t>
            </a:r>
          </a:p>
        </p:txBody>
      </p:sp>
      <p:sp>
        <p:nvSpPr>
          <p:cNvPr id="6" name="TextBox 5"/>
          <p:cNvSpPr txBox="1"/>
          <p:nvPr/>
        </p:nvSpPr>
        <p:spPr>
          <a:xfrm>
            <a:off x="10362895" y="6355080"/>
            <a:ext cx="1280160" cy="365760"/>
          </a:xfrm>
          <a:prstGeom prst="rect">
            <a:avLst/>
          </a:prstGeom>
          <a:noFill/>
        </p:spPr>
        <p:txBody>
          <a:bodyPr wrap="square" anchor="t" lIns="18288" rIns="18288" tIns="18288" bIns="18288">
            <a:spAutoFit/>
          </a:bodyPr>
          <a:lstStyle/>
          <a:p>
            <a:pPr algn="r">
              <a:lnSpc>
                <a:spcPct val="110000"/>
              </a:lnSpc>
              <a:spcAft>
                <a:spcPts val="0"/>
              </a:spcAft>
            </a:pPr>
            <a:r>
              <a:rPr sz="1000" b="0">
                <a:solidFill>
                  <a:srgbClr val="5B6661"/>
                </a:solidFill>
                <a:latin typeface="Arial"/>
              </a:rPr>
              <a:t>Amanah  4 / 11</a:t>
            </a:r>
          </a:p>
        </p:txBody>
      </p:sp>
      <p:sp>
        <p:nvSpPr>
          <p:cNvPr id="7" name="Rounded Rectangle 6"/>
          <p:cNvSpPr/>
          <p:nvPr/>
        </p:nvSpPr>
        <p:spPr>
          <a:xfrm>
            <a:off x="548640" y="1874519"/>
            <a:ext cx="1371600" cy="1188720"/>
          </a:xfrm>
          <a:prstGeom prst="roundRect">
            <a:avLst>
              <a:gd name="adj" fmla="val 8000"/>
            </a:avLst>
          </a:prstGeom>
          <a:solidFill>
            <a:srgbClr val="EC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13232" y="1965959"/>
            <a:ext cx="1042416" cy="1005840"/>
          </a:xfrm>
          <a:prstGeom prst="rect">
            <a:avLst/>
          </a:prstGeom>
          <a:noFill/>
        </p:spPr>
        <p:txBody>
          <a:bodyPr wrap="square" anchor="ctr" lIns="18288" rIns="18288" tIns="18288" bIns="18288">
            <a:spAutoFit/>
          </a:bodyPr>
          <a:lstStyle/>
          <a:p>
            <a:pPr algn="ctr">
              <a:lnSpc>
                <a:spcPct val="110000"/>
              </a:lnSpc>
              <a:spcAft>
                <a:spcPts val="700"/>
              </a:spcAft>
            </a:pPr>
            <a:r>
              <a:rPr sz="1300" b="1">
                <a:solidFill>
                  <a:srgbClr val="0B5D3B"/>
                </a:solidFill>
                <a:latin typeface="Arial"/>
              </a:rPr>
              <a:t>Understand</a:t>
            </a:r>
          </a:p>
          <a:p>
            <a:pPr algn="ctr">
              <a:lnSpc>
                <a:spcPct val="110000"/>
              </a:lnSpc>
              <a:spcAft>
                <a:spcPts val="0"/>
              </a:spcAft>
            </a:pPr>
            <a:r>
              <a:rPr sz="1200" b="0">
                <a:solidFill>
                  <a:srgbClr val="1D2321"/>
                </a:solidFill>
                <a:latin typeface="Arial"/>
              </a:rPr>
              <a:t>one clarifying question</a:t>
            </a:r>
          </a:p>
        </p:txBody>
      </p:sp>
      <p:sp>
        <p:nvSpPr>
          <p:cNvPr id="9" name="Right Arrow 8"/>
          <p:cNvSpPr/>
          <p:nvPr/>
        </p:nvSpPr>
        <p:spPr>
          <a:xfrm>
            <a:off x="1938528" y="2350007"/>
            <a:ext cx="164592" cy="219456"/>
          </a:xfrm>
          <a:prstGeom prst="rightArrow">
            <a:avLst/>
          </a:prstGeom>
          <a:solidFill>
            <a:srgbClr val="0B5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116836" y="1874519"/>
            <a:ext cx="1371600" cy="1188720"/>
          </a:xfrm>
          <a:prstGeom prst="roundRect">
            <a:avLst>
              <a:gd name="adj" fmla="val 8000"/>
            </a:avLst>
          </a:prstGeom>
          <a:solidFill>
            <a:srgbClr val="EC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2281428" y="1965959"/>
            <a:ext cx="1042416" cy="1005840"/>
          </a:xfrm>
          <a:prstGeom prst="rect">
            <a:avLst/>
          </a:prstGeom>
          <a:noFill/>
        </p:spPr>
        <p:txBody>
          <a:bodyPr wrap="square" anchor="ctr" lIns="18288" rIns="18288" tIns="18288" bIns="18288">
            <a:spAutoFit/>
          </a:bodyPr>
          <a:lstStyle/>
          <a:p>
            <a:pPr algn="ctr">
              <a:lnSpc>
                <a:spcPct val="110000"/>
              </a:lnSpc>
              <a:spcAft>
                <a:spcPts val="700"/>
              </a:spcAft>
            </a:pPr>
            <a:r>
              <a:rPr sz="1300" b="1">
                <a:solidFill>
                  <a:srgbClr val="0B5D3B"/>
                </a:solidFill>
                <a:latin typeface="Arial"/>
              </a:rPr>
              <a:t>Plan</a:t>
            </a:r>
          </a:p>
          <a:p>
            <a:pPr algn="ctr">
              <a:lnSpc>
                <a:spcPct val="110000"/>
              </a:lnSpc>
              <a:spcAft>
                <a:spcPts val="0"/>
              </a:spcAft>
            </a:pPr>
            <a:r>
              <a:rPr sz="1200" b="0">
                <a:solidFill>
                  <a:srgbClr val="1D2321"/>
                </a:solidFill>
                <a:latin typeface="Arial"/>
              </a:rPr>
              <a:t>one card, amounts from the books</a:t>
            </a:r>
          </a:p>
        </p:txBody>
      </p:sp>
      <p:sp>
        <p:nvSpPr>
          <p:cNvPr id="12" name="Right Arrow 11"/>
          <p:cNvSpPr/>
          <p:nvPr/>
        </p:nvSpPr>
        <p:spPr>
          <a:xfrm>
            <a:off x="3506724" y="2350007"/>
            <a:ext cx="164592" cy="219456"/>
          </a:xfrm>
          <a:prstGeom prst="rightArrow">
            <a:avLst/>
          </a:prstGeom>
          <a:solidFill>
            <a:srgbClr val="0B5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685032" y="1874519"/>
            <a:ext cx="1371600" cy="1188720"/>
          </a:xfrm>
          <a:prstGeom prst="roundRect">
            <a:avLst>
              <a:gd name="adj" fmla="val 8000"/>
            </a:avLst>
          </a:prstGeom>
          <a:solidFill>
            <a:srgbClr val="EC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849624" y="1965959"/>
            <a:ext cx="1042416" cy="1005840"/>
          </a:xfrm>
          <a:prstGeom prst="rect">
            <a:avLst/>
          </a:prstGeom>
          <a:noFill/>
        </p:spPr>
        <p:txBody>
          <a:bodyPr wrap="square" anchor="ctr" lIns="18288" rIns="18288" tIns="18288" bIns="18288">
            <a:spAutoFit/>
          </a:bodyPr>
          <a:lstStyle/>
          <a:p>
            <a:pPr algn="ctr">
              <a:lnSpc>
                <a:spcPct val="110000"/>
              </a:lnSpc>
              <a:spcAft>
                <a:spcPts val="700"/>
              </a:spcAft>
            </a:pPr>
            <a:r>
              <a:rPr sz="1300" b="1">
                <a:solidFill>
                  <a:srgbClr val="0B5D3B"/>
                </a:solidFill>
                <a:latin typeface="Arial"/>
              </a:rPr>
              <a:t>Correct</a:t>
            </a:r>
          </a:p>
          <a:p>
            <a:pPr algn="ctr">
              <a:lnSpc>
                <a:spcPct val="110000"/>
              </a:lnSpc>
              <a:spcAft>
                <a:spcPts val="0"/>
              </a:spcAft>
            </a:pPr>
            <a:r>
              <a:rPr sz="1200" b="0">
                <a:solidFill>
                  <a:srgbClr val="1D2321"/>
                </a:solidFill>
                <a:latin typeface="Arial"/>
              </a:rPr>
              <a:t>"leave out household 12"</a:t>
            </a:r>
          </a:p>
        </p:txBody>
      </p:sp>
      <p:sp>
        <p:nvSpPr>
          <p:cNvPr id="15" name="Right Arrow 14"/>
          <p:cNvSpPr/>
          <p:nvPr/>
        </p:nvSpPr>
        <p:spPr>
          <a:xfrm>
            <a:off x="5074920" y="2350007"/>
            <a:ext cx="164592" cy="219456"/>
          </a:xfrm>
          <a:prstGeom prst="rightArrow">
            <a:avLst/>
          </a:prstGeom>
          <a:solidFill>
            <a:srgbClr val="0B5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253228" y="1874519"/>
            <a:ext cx="1371600" cy="1188720"/>
          </a:xfrm>
          <a:prstGeom prst="roundRect">
            <a:avLst>
              <a:gd name="adj" fmla="val 8000"/>
            </a:avLst>
          </a:prstGeom>
          <a:solidFill>
            <a:srgbClr val="EC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417820" y="1965959"/>
            <a:ext cx="1042416" cy="1005840"/>
          </a:xfrm>
          <a:prstGeom prst="rect">
            <a:avLst/>
          </a:prstGeom>
          <a:noFill/>
        </p:spPr>
        <p:txBody>
          <a:bodyPr wrap="square" anchor="ctr" lIns="18288" rIns="18288" tIns="18288" bIns="18288">
            <a:spAutoFit/>
          </a:bodyPr>
          <a:lstStyle/>
          <a:p>
            <a:pPr algn="ctr">
              <a:lnSpc>
                <a:spcPct val="110000"/>
              </a:lnSpc>
              <a:spcAft>
                <a:spcPts val="700"/>
              </a:spcAft>
            </a:pPr>
            <a:r>
              <a:rPr sz="1300" b="1">
                <a:solidFill>
                  <a:srgbClr val="0B5D3B"/>
                </a:solidFill>
                <a:latin typeface="Arial"/>
              </a:rPr>
              <a:t>Sign</a:t>
            </a:r>
          </a:p>
          <a:p>
            <a:pPr algn="ctr">
              <a:lnSpc>
                <a:spcPct val="110000"/>
              </a:lnSpc>
              <a:spcAft>
                <a:spcPts val="0"/>
              </a:spcAft>
            </a:pPr>
            <a:r>
              <a:rPr sz="1200" b="0">
                <a:solidFill>
                  <a:srgbClr val="1D2321"/>
                </a:solidFill>
                <a:latin typeface="Arial"/>
              </a:rPr>
              <a:t>an EIP-712 intent</a:t>
            </a:r>
          </a:p>
        </p:txBody>
      </p:sp>
      <p:sp>
        <p:nvSpPr>
          <p:cNvPr id="18" name="Right Arrow 17"/>
          <p:cNvSpPr/>
          <p:nvPr/>
        </p:nvSpPr>
        <p:spPr>
          <a:xfrm>
            <a:off x="6643116" y="2350007"/>
            <a:ext cx="164592" cy="219456"/>
          </a:xfrm>
          <a:prstGeom prst="rightArrow">
            <a:avLst/>
          </a:prstGeom>
          <a:solidFill>
            <a:srgbClr val="0B5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821424" y="1874519"/>
            <a:ext cx="1371600" cy="1188720"/>
          </a:xfrm>
          <a:prstGeom prst="roundRect">
            <a:avLst>
              <a:gd name="adj" fmla="val 8000"/>
            </a:avLst>
          </a:prstGeom>
          <a:solidFill>
            <a:srgbClr val="EC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986016" y="1965959"/>
            <a:ext cx="1042416" cy="1005840"/>
          </a:xfrm>
          <a:prstGeom prst="rect">
            <a:avLst/>
          </a:prstGeom>
          <a:noFill/>
        </p:spPr>
        <p:txBody>
          <a:bodyPr wrap="square" anchor="ctr" lIns="18288" rIns="18288" tIns="18288" bIns="18288">
            <a:spAutoFit/>
          </a:bodyPr>
          <a:lstStyle/>
          <a:p>
            <a:pPr algn="ctr">
              <a:lnSpc>
                <a:spcPct val="110000"/>
              </a:lnSpc>
              <a:spcAft>
                <a:spcPts val="700"/>
              </a:spcAft>
            </a:pPr>
            <a:r>
              <a:rPr sz="1300" b="1">
                <a:solidFill>
                  <a:srgbClr val="0B5D3B"/>
                </a:solidFill>
                <a:latin typeface="Arial"/>
              </a:rPr>
              <a:t>Check</a:t>
            </a:r>
          </a:p>
          <a:p>
            <a:pPr algn="ctr">
              <a:lnSpc>
                <a:spcPct val="110000"/>
              </a:lnSpc>
              <a:spcAft>
                <a:spcPts val="0"/>
              </a:spcAft>
            </a:pPr>
            <a:r>
              <a:rPr sz="1200" b="0">
                <a:solidFill>
                  <a:srgbClr val="1D2321"/>
                </a:solidFill>
                <a:latin typeface="Arial"/>
              </a:rPr>
              <a:t>auditor and sentinel, in parallel</a:t>
            </a:r>
          </a:p>
        </p:txBody>
      </p:sp>
      <p:sp>
        <p:nvSpPr>
          <p:cNvPr id="21" name="Right Arrow 20"/>
          <p:cNvSpPr/>
          <p:nvPr/>
        </p:nvSpPr>
        <p:spPr>
          <a:xfrm>
            <a:off x="8211312" y="2350007"/>
            <a:ext cx="164592" cy="219456"/>
          </a:xfrm>
          <a:prstGeom prst="rightArrow">
            <a:avLst/>
          </a:prstGeom>
          <a:solidFill>
            <a:srgbClr val="0B5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389620" y="1874519"/>
            <a:ext cx="1371600" cy="1188720"/>
          </a:xfrm>
          <a:prstGeom prst="roundRect">
            <a:avLst>
              <a:gd name="adj" fmla="val 8000"/>
            </a:avLst>
          </a:prstGeom>
          <a:solidFill>
            <a:srgbClr val="EC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554212" y="1965959"/>
            <a:ext cx="1042416" cy="1005840"/>
          </a:xfrm>
          <a:prstGeom prst="rect">
            <a:avLst/>
          </a:prstGeom>
          <a:noFill/>
        </p:spPr>
        <p:txBody>
          <a:bodyPr wrap="square" anchor="ctr" lIns="18288" rIns="18288" tIns="18288" bIns="18288">
            <a:spAutoFit/>
          </a:bodyPr>
          <a:lstStyle/>
          <a:p>
            <a:pPr algn="ctr">
              <a:lnSpc>
                <a:spcPct val="110000"/>
              </a:lnSpc>
              <a:spcAft>
                <a:spcPts val="700"/>
              </a:spcAft>
            </a:pPr>
            <a:r>
              <a:rPr sz="1300" b="1">
                <a:solidFill>
                  <a:srgbClr val="0B5D3B"/>
                </a:solidFill>
                <a:latin typeface="Arial"/>
              </a:rPr>
              <a:t>Submit</a:t>
            </a:r>
          </a:p>
          <a:p>
            <a:pPr algn="ctr">
              <a:lnSpc>
                <a:spcPct val="110000"/>
              </a:lnSpc>
              <a:spcAft>
                <a:spcPts val="0"/>
              </a:spcAft>
            </a:pPr>
            <a:r>
              <a:rPr sz="1200" b="0">
                <a:solidFill>
                  <a:srgbClr val="1D2321"/>
                </a:solidFill>
                <a:latin typeface="Arial"/>
              </a:rPr>
              <a:t>the vault picks the tier</a:t>
            </a:r>
          </a:p>
        </p:txBody>
      </p:sp>
      <p:sp>
        <p:nvSpPr>
          <p:cNvPr id="24" name="Right Arrow 23"/>
          <p:cNvSpPr/>
          <p:nvPr/>
        </p:nvSpPr>
        <p:spPr>
          <a:xfrm>
            <a:off x="9779508" y="2350007"/>
            <a:ext cx="164592" cy="219456"/>
          </a:xfrm>
          <a:prstGeom prst="rightArrow">
            <a:avLst/>
          </a:prstGeom>
          <a:solidFill>
            <a:srgbClr val="0B5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957816" y="1874519"/>
            <a:ext cx="1371600" cy="1188720"/>
          </a:xfrm>
          <a:prstGeom prst="roundRect">
            <a:avLst>
              <a:gd name="adj" fmla="val 8000"/>
            </a:avLst>
          </a:prstGeom>
          <a:solidFill>
            <a:srgbClr val="EC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122408" y="1965959"/>
            <a:ext cx="1042416" cy="1005840"/>
          </a:xfrm>
          <a:prstGeom prst="rect">
            <a:avLst/>
          </a:prstGeom>
          <a:noFill/>
        </p:spPr>
        <p:txBody>
          <a:bodyPr wrap="square" anchor="ctr" lIns="18288" rIns="18288" tIns="18288" bIns="18288">
            <a:spAutoFit/>
          </a:bodyPr>
          <a:lstStyle/>
          <a:p>
            <a:pPr algn="ctr">
              <a:lnSpc>
                <a:spcPct val="110000"/>
              </a:lnSpc>
              <a:spcAft>
                <a:spcPts val="700"/>
              </a:spcAft>
            </a:pPr>
            <a:r>
              <a:rPr sz="1300" b="1">
                <a:solidFill>
                  <a:srgbClr val="0B5D3B"/>
                </a:solidFill>
                <a:latin typeface="Arial"/>
              </a:rPr>
              <a:t>Record</a:t>
            </a:r>
          </a:p>
          <a:p>
            <a:pPr algn="ctr">
              <a:lnSpc>
                <a:spcPct val="110000"/>
              </a:lnSpc>
              <a:spcAft>
                <a:spcPts val="0"/>
              </a:spcAft>
            </a:pPr>
            <a:r>
              <a:rPr sz="1200" b="0">
                <a:solidFill>
                  <a:srgbClr val="1D2321"/>
                </a:solidFill>
                <a:latin typeface="Arial"/>
              </a:rPr>
              <a:t>a hash-chained log</a:t>
            </a:r>
          </a:p>
        </p:txBody>
      </p:sp>
      <p:sp>
        <p:nvSpPr>
          <p:cNvPr id="27" name="Rounded Rectangle 26"/>
          <p:cNvSpPr/>
          <p:nvPr/>
        </p:nvSpPr>
        <p:spPr>
          <a:xfrm>
            <a:off x="548640" y="3337559"/>
            <a:ext cx="9966960" cy="384048"/>
          </a:xfrm>
          <a:prstGeom prst="roundRect">
            <a:avLst>
              <a:gd name="adj" fmla="val 8000"/>
            </a:avLst>
          </a:prstGeom>
          <a:solidFill>
            <a:srgbClr val="FFFFFF"/>
          </a:solidFill>
          <a:ln w="12700">
            <a:solidFill>
              <a:srgbClr val="C9D6C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13232" y="3428999"/>
            <a:ext cx="9637776" cy="201168"/>
          </a:xfrm>
          <a:prstGeom prst="rect">
            <a:avLst/>
          </a:prstGeom>
          <a:noFill/>
        </p:spPr>
        <p:txBody>
          <a:bodyPr wrap="square" anchor="ctr" lIns="18288" rIns="18288" tIns="18288" bIns="18288">
            <a:spAutoFit/>
          </a:bodyPr>
          <a:lstStyle/>
          <a:p>
            <a:pPr algn="l">
              <a:lnSpc>
                <a:spcPct val="110000"/>
              </a:lnSpc>
              <a:spcAft>
                <a:spcPts val="0"/>
              </a:spcAft>
            </a:pPr>
            <a:r>
              <a:rPr sz="1300" b="1">
                <a:solidFill>
                  <a:srgbClr val="1D2321"/>
                </a:solidFill>
                <a:latin typeface="Arial"/>
              </a:rPr>
              <a:t>Officer: Pay October's aid for Ipoh.</a:t>
            </a:r>
          </a:p>
        </p:txBody>
      </p:sp>
      <p:sp>
        <p:nvSpPr>
          <p:cNvPr id="29" name="Rounded Rectangle 28"/>
          <p:cNvSpPr/>
          <p:nvPr/>
        </p:nvSpPr>
        <p:spPr>
          <a:xfrm>
            <a:off x="1645920" y="3794759"/>
            <a:ext cx="9966960" cy="384048"/>
          </a:xfrm>
          <a:prstGeom prst="roundRect">
            <a:avLst>
              <a:gd name="adj" fmla="val 8000"/>
            </a:avLst>
          </a:prstGeom>
          <a:solidFill>
            <a:srgbClr val="EC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810512" y="3886199"/>
            <a:ext cx="9637776" cy="201168"/>
          </a:xfrm>
          <a:prstGeom prst="rect">
            <a:avLst/>
          </a:prstGeom>
          <a:noFill/>
        </p:spPr>
        <p:txBody>
          <a:bodyPr wrap="square" anchor="ctr" lIns="18288" rIns="18288" tIns="18288" bIns="18288">
            <a:spAutoFit/>
          </a:bodyPr>
          <a:lstStyle/>
          <a:p>
            <a:pPr algn="l">
              <a:lnSpc>
                <a:spcPct val="110000"/>
              </a:lnSpc>
              <a:spcAft>
                <a:spcPts val="0"/>
              </a:spcAft>
            </a:pPr>
            <a:r>
              <a:rPr sz="1300" b="0">
                <a:solidFill>
                  <a:srgbClr val="1D2321"/>
                </a:solidFill>
                <a:latin typeface="Arial"/>
              </a:rPr>
              <a:t>Amanah: October has two batches for Ipoh: zakat monthly aid and flood relief. Which one?</a:t>
            </a:r>
          </a:p>
        </p:txBody>
      </p:sp>
      <p:sp>
        <p:nvSpPr>
          <p:cNvPr id="31" name="Rounded Rectangle 30"/>
          <p:cNvSpPr/>
          <p:nvPr/>
        </p:nvSpPr>
        <p:spPr>
          <a:xfrm>
            <a:off x="548640" y="4251959"/>
            <a:ext cx="9966960" cy="384048"/>
          </a:xfrm>
          <a:prstGeom prst="roundRect">
            <a:avLst>
              <a:gd name="adj" fmla="val 8000"/>
            </a:avLst>
          </a:prstGeom>
          <a:solidFill>
            <a:srgbClr val="FFFFFF"/>
          </a:solidFill>
          <a:ln w="12700">
            <a:solidFill>
              <a:srgbClr val="C9D6C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713232" y="4343399"/>
            <a:ext cx="9637776" cy="201168"/>
          </a:xfrm>
          <a:prstGeom prst="rect">
            <a:avLst/>
          </a:prstGeom>
          <a:noFill/>
        </p:spPr>
        <p:txBody>
          <a:bodyPr wrap="square" anchor="ctr" lIns="18288" rIns="18288" tIns="18288" bIns="18288">
            <a:spAutoFit/>
          </a:bodyPr>
          <a:lstStyle/>
          <a:p>
            <a:pPr algn="l">
              <a:lnSpc>
                <a:spcPct val="110000"/>
              </a:lnSpc>
              <a:spcAft>
                <a:spcPts val="0"/>
              </a:spcAft>
            </a:pPr>
            <a:r>
              <a:rPr sz="1300" b="1">
                <a:solidFill>
                  <a:srgbClr val="1D2321"/>
                </a:solidFill>
                <a:latin typeface="Arial"/>
              </a:rPr>
              <a:t>Officer: Zakat monthly aid.</a:t>
            </a:r>
          </a:p>
        </p:txBody>
      </p:sp>
      <p:sp>
        <p:nvSpPr>
          <p:cNvPr id="33" name="Rounded Rectangle 32"/>
          <p:cNvSpPr/>
          <p:nvPr/>
        </p:nvSpPr>
        <p:spPr>
          <a:xfrm>
            <a:off x="1645920" y="4709159"/>
            <a:ext cx="9966960" cy="384048"/>
          </a:xfrm>
          <a:prstGeom prst="roundRect">
            <a:avLst>
              <a:gd name="adj" fmla="val 8000"/>
            </a:avLst>
          </a:prstGeom>
          <a:solidFill>
            <a:srgbClr val="EC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810512" y="4800599"/>
            <a:ext cx="9637776" cy="201168"/>
          </a:xfrm>
          <a:prstGeom prst="rect">
            <a:avLst/>
          </a:prstGeom>
          <a:noFill/>
        </p:spPr>
        <p:txBody>
          <a:bodyPr wrap="square" anchor="ctr" lIns="18288" rIns="18288" tIns="18288" bIns="18288">
            <a:spAutoFit/>
          </a:bodyPr>
          <a:lstStyle/>
          <a:p>
            <a:pPr algn="l">
              <a:lnSpc>
                <a:spcPct val="110000"/>
              </a:lnSpc>
              <a:spcAft>
                <a:spcPts val="0"/>
              </a:spcAft>
            </a:pPr>
            <a:r>
              <a:rPr sz="1300" b="0">
                <a:solidFill>
                  <a:srgbClr val="1D2321"/>
                </a:solidFill>
                <a:latin typeface="Arial"/>
              </a:rPr>
              <a:t>Amanah: Plan: 12 households, 1,810 USDC. Tier preview: routine.</a:t>
            </a:r>
          </a:p>
        </p:txBody>
      </p:sp>
      <p:sp>
        <p:nvSpPr>
          <p:cNvPr id="35" name="Rounded Rectangle 34"/>
          <p:cNvSpPr/>
          <p:nvPr/>
        </p:nvSpPr>
        <p:spPr>
          <a:xfrm>
            <a:off x="548640" y="5166359"/>
            <a:ext cx="9966960" cy="384048"/>
          </a:xfrm>
          <a:prstGeom prst="roundRect">
            <a:avLst>
              <a:gd name="adj" fmla="val 8000"/>
            </a:avLst>
          </a:prstGeom>
          <a:solidFill>
            <a:srgbClr val="FFFFFF"/>
          </a:solidFill>
          <a:ln w="12700">
            <a:solidFill>
              <a:srgbClr val="C9D6C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13232" y="5257799"/>
            <a:ext cx="9637776" cy="201168"/>
          </a:xfrm>
          <a:prstGeom prst="rect">
            <a:avLst/>
          </a:prstGeom>
          <a:noFill/>
        </p:spPr>
        <p:txBody>
          <a:bodyPr wrap="square" anchor="ctr" lIns="18288" rIns="18288" tIns="18288" bIns="18288">
            <a:spAutoFit/>
          </a:bodyPr>
          <a:lstStyle/>
          <a:p>
            <a:pPr algn="l">
              <a:lnSpc>
                <a:spcPct val="110000"/>
              </a:lnSpc>
              <a:spcAft>
                <a:spcPts val="0"/>
              </a:spcAft>
            </a:pPr>
            <a:r>
              <a:rPr sz="1300" b="1">
                <a:solidFill>
                  <a:srgbClr val="1D2321"/>
                </a:solidFill>
                <a:latin typeface="Arial"/>
              </a:rPr>
              <a:t>Officer: Leave out household 12, they moved.</a:t>
            </a:r>
          </a:p>
        </p:txBody>
      </p:sp>
      <p:sp>
        <p:nvSpPr>
          <p:cNvPr id="37" name="Rounded Rectangle 36"/>
          <p:cNvSpPr/>
          <p:nvPr/>
        </p:nvSpPr>
        <p:spPr>
          <a:xfrm>
            <a:off x="1645920" y="5623559"/>
            <a:ext cx="9966960" cy="384048"/>
          </a:xfrm>
          <a:prstGeom prst="roundRect">
            <a:avLst>
              <a:gd name="adj" fmla="val 8000"/>
            </a:avLst>
          </a:prstGeom>
          <a:solidFill>
            <a:srgbClr val="EC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1810512" y="5714999"/>
            <a:ext cx="9637776" cy="201168"/>
          </a:xfrm>
          <a:prstGeom prst="rect">
            <a:avLst/>
          </a:prstGeom>
          <a:noFill/>
        </p:spPr>
        <p:txBody>
          <a:bodyPr wrap="square" anchor="ctr" lIns="18288" rIns="18288" tIns="18288" bIns="18288">
            <a:spAutoFit/>
          </a:bodyPr>
          <a:lstStyle/>
          <a:p>
            <a:pPr algn="l">
              <a:lnSpc>
                <a:spcPct val="110000"/>
              </a:lnSpc>
              <a:spcAft>
                <a:spcPts val="0"/>
              </a:spcAft>
            </a:pPr>
            <a:r>
              <a:rPr sz="1300" b="0">
                <a:solidFill>
                  <a:srgbClr val="1D2321"/>
                </a:solidFill>
                <a:latin typeface="Arial"/>
              </a:rPr>
              <a:t>Amanah: Same batch: 11 households, 1,650 USDC. Confirm?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1094415" cy="320040"/>
          </a:xfrm>
          <a:prstGeom prst="rect">
            <a:avLst/>
          </a:prstGeom>
          <a:noFill/>
        </p:spPr>
        <p:txBody>
          <a:bodyPr wrap="square" anchor="t" lIns="18288" rIns="18288" tIns="18288" bIns="18288">
            <a:spAutoFit/>
          </a:bodyPr>
          <a:lstStyle/>
          <a:p>
            <a:pPr algn="l">
              <a:lnSpc>
                <a:spcPct val="110000"/>
              </a:lnSpc>
              <a:spcAft>
                <a:spcPts val="0"/>
              </a:spcAft>
            </a:pPr>
            <a:r>
              <a:rPr sz="1200" b="1">
                <a:solidFill>
                  <a:srgbClr val="0B5D3B"/>
                </a:solidFill>
                <a:latin typeface="Arial"/>
              </a:rPr>
              <a:t>4 · CONTRIBUTION 1 OF 5: THE INDEPENDENCE QUORUM</a:t>
            </a:r>
          </a:p>
        </p:txBody>
      </p:sp>
      <p:sp>
        <p:nvSpPr>
          <p:cNvPr id="3" name="TextBox 2"/>
          <p:cNvSpPr txBox="1"/>
          <p:nvPr/>
        </p:nvSpPr>
        <p:spPr>
          <a:xfrm>
            <a:off x="548640" y="658368"/>
            <a:ext cx="11094415" cy="1097280"/>
          </a:xfrm>
          <a:prstGeom prst="rect">
            <a:avLst/>
          </a:prstGeom>
          <a:noFill/>
        </p:spPr>
        <p:txBody>
          <a:bodyPr wrap="square" anchor="t" lIns="18288" rIns="18288" tIns="18288" bIns="18288">
            <a:spAutoFit/>
          </a:bodyPr>
          <a:lstStyle/>
          <a:p>
            <a:pPr algn="l">
              <a:lnSpc>
                <a:spcPct val="100000"/>
              </a:lnSpc>
              <a:spcAft>
                <a:spcPts val="0"/>
              </a:spcAft>
            </a:pPr>
            <a:r>
              <a:rPr sz="2800" b="1">
                <a:solidFill>
                  <a:srgbClr val="1D2321"/>
                </a:solidFill>
                <a:latin typeface="Arial"/>
              </a:rPr>
              <a:t>Three signers built to fail differently must agree, and the contract checks they differ</a:t>
            </a:r>
          </a:p>
        </p:txBody>
      </p:sp>
      <p:sp>
        <p:nvSpPr>
          <p:cNvPr id="4" name="Rectangle 3"/>
          <p:cNvSpPr/>
          <p:nvPr/>
        </p:nvSpPr>
        <p:spPr>
          <a:xfrm>
            <a:off x="548640" y="6291072"/>
            <a:ext cx="11094415" cy="9525"/>
          </a:xfrm>
          <a:prstGeom prst="rect">
            <a:avLst/>
          </a:prstGeom>
          <a:solidFill>
            <a:srgbClr val="C9D6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355080"/>
            <a:ext cx="9631375" cy="365760"/>
          </a:xfrm>
          <a:prstGeom prst="rect">
            <a:avLst/>
          </a:prstGeom>
          <a:noFill/>
        </p:spPr>
        <p:txBody>
          <a:bodyPr wrap="square" anchor="t" lIns="18288" rIns="18288" tIns="18288" bIns="18288">
            <a:spAutoFit/>
          </a:bodyPr>
          <a:lstStyle/>
          <a:p>
            <a:pPr algn="l">
              <a:lnSpc>
                <a:spcPct val="110000"/>
              </a:lnSpc>
              <a:spcAft>
                <a:spcPts val="0"/>
              </a:spcAft>
            </a:pPr>
            <a:r>
              <a:rPr sz="1000" b="0">
                <a:solidFill>
                  <a:srgbClr val="5B6661"/>
                </a:solidFill>
                <a:latin typeface="Arial"/>
              </a:rPr>
              <a:t>Source: AmanahVault's signer registry and lineage check; scenario 11 on Base Sepolia, [[fill: scenario 11 tx]]</a:t>
            </a:r>
          </a:p>
        </p:txBody>
      </p:sp>
      <p:sp>
        <p:nvSpPr>
          <p:cNvPr id="6" name="TextBox 5"/>
          <p:cNvSpPr txBox="1"/>
          <p:nvPr/>
        </p:nvSpPr>
        <p:spPr>
          <a:xfrm>
            <a:off x="10362895" y="6355080"/>
            <a:ext cx="1280160" cy="365760"/>
          </a:xfrm>
          <a:prstGeom prst="rect">
            <a:avLst/>
          </a:prstGeom>
          <a:noFill/>
        </p:spPr>
        <p:txBody>
          <a:bodyPr wrap="square" anchor="t" lIns="18288" rIns="18288" tIns="18288" bIns="18288">
            <a:spAutoFit/>
          </a:bodyPr>
          <a:lstStyle/>
          <a:p>
            <a:pPr algn="r">
              <a:lnSpc>
                <a:spcPct val="110000"/>
              </a:lnSpc>
              <a:spcAft>
                <a:spcPts val="0"/>
              </a:spcAft>
            </a:pPr>
            <a:r>
              <a:rPr sz="1000" b="0">
                <a:solidFill>
                  <a:srgbClr val="5B6661"/>
                </a:solidFill>
                <a:latin typeface="Arial"/>
              </a:rPr>
              <a:t>Amanah  5 / 11</a:t>
            </a:r>
          </a:p>
        </p:txBody>
      </p:sp>
      <p:graphicFrame>
        <p:nvGraphicFramePr>
          <p:cNvPr id="7" name="Table 6"/>
          <p:cNvGraphicFramePr>
            <a:graphicFrameLocks noGrp="1"/>
          </p:cNvGraphicFramePr>
          <p:nvPr/>
        </p:nvGraphicFramePr>
        <p:xfrm>
          <a:off x="548640" y="1874519"/>
          <a:ext cx="7680959" cy="3840480"/>
        </p:xfrm>
        <a:graphic>
          <a:graphicData uri="http://schemas.openxmlformats.org/drawingml/2006/table">
            <a:tbl>
              <a:tblPr firstRow="1" bandRow="1">
                <a:tableStyleId>{5C22544A-7EE6-4342-B048-85BDC9FD1C3A}</a:tableStyleId>
              </a:tblPr>
              <a:tblGrid>
                <a:gridCol w="1152144"/>
                <a:gridCol w="1689811"/>
                <a:gridCol w="2765145"/>
                <a:gridCol w="2073859"/>
              </a:tblGrid>
              <a:tr h="960120">
                <a:tc>
                  <a:txBody>
                    <a:bodyPr wrap="square"/>
                    <a:lstStyle/>
                    <a:p>
                      <a:r>
                        <a:rPr sz="1300" b="1">
                          <a:solidFill>
                            <a:srgbClr val="FFFFFF"/>
                          </a:solidFill>
                          <a:latin typeface="Arial"/>
                        </a:rPr>
                        <a:t>Signer</a:t>
                      </a:r>
                    </a:p>
                  </a:txBody>
                  <a:tcPr marL="91440" marR="91440" marT="45720" marB="45720" anchor="ctr">
                    <a:solidFill>
                      <a:srgbClr val="0B5D3B"/>
                    </a:solidFill>
                  </a:tcPr>
                </a:tc>
                <a:tc>
                  <a:txBody>
                    <a:bodyPr wrap="square"/>
                    <a:lstStyle/>
                    <a:p>
                      <a:r>
                        <a:rPr sz="1300" b="1">
                          <a:solidFill>
                            <a:srgbClr val="FFFFFF"/>
                          </a:solidFill>
                          <a:latin typeface="Arial"/>
                        </a:rPr>
                        <a:t>Lineage</a:t>
                      </a:r>
                    </a:p>
                  </a:txBody>
                  <a:tcPr marL="91440" marR="91440" marT="45720" marB="45720" anchor="ctr">
                    <a:solidFill>
                      <a:srgbClr val="0B5D3B"/>
                    </a:solidFill>
                  </a:tcPr>
                </a:tc>
                <a:tc>
                  <a:txBody>
                    <a:bodyPr wrap="square"/>
                    <a:lstStyle/>
                    <a:p>
                      <a:r>
                        <a:rPr sz="1300" b="1">
                          <a:solidFill>
                            <a:srgbClr val="FFFFFF"/>
                          </a:solidFill>
                          <a:latin typeface="Arial"/>
                        </a:rPr>
                        <a:t>Sees</a:t>
                      </a:r>
                    </a:p>
                  </a:txBody>
                  <a:tcPr marL="91440" marR="91440" marT="45720" marB="45720" anchor="ctr">
                    <a:solidFill>
                      <a:srgbClr val="0B5D3B"/>
                    </a:solidFill>
                  </a:tcPr>
                </a:tc>
                <a:tc>
                  <a:txBody>
                    <a:bodyPr wrap="square"/>
                    <a:lstStyle/>
                    <a:p>
                      <a:r>
                        <a:rPr sz="1300" b="1">
                          <a:solidFill>
                            <a:srgbClr val="FFFFFF"/>
                          </a:solidFill>
                          <a:latin typeface="Arial"/>
                        </a:rPr>
                        <a:t>Never sees</a:t>
                      </a:r>
                    </a:p>
                  </a:txBody>
                  <a:tcPr marL="91440" marR="91440" marT="45720" marB="45720" anchor="ctr">
                    <a:solidFill>
                      <a:srgbClr val="0B5D3B"/>
                    </a:solidFill>
                  </a:tcPr>
                </a:tc>
              </a:tr>
              <a:tr h="960120">
                <a:tc>
                  <a:txBody>
                    <a:bodyPr wrap="square"/>
                    <a:lstStyle/>
                    <a:p>
                      <a:r>
                        <a:rPr sz="1400" b="1">
                          <a:solidFill>
                            <a:srgbClr val="1D2321"/>
                          </a:solidFill>
                          <a:latin typeface="Arial"/>
                        </a:rPr>
                        <a:t>Planner</a:t>
                      </a:r>
                    </a:p>
                  </a:txBody>
                  <a:tcPr marL="91440" marR="91440" marT="45720" marB="45720" anchor="ctr">
                    <a:solidFill>
                      <a:srgbClr val="FFFFFF"/>
                    </a:solidFill>
                  </a:tcPr>
                </a:tc>
                <a:tc>
                  <a:txBody>
                    <a:bodyPr wrap="square"/>
                    <a:lstStyle/>
                    <a:p>
                      <a:r>
                        <a:rPr sz="1400" b="0">
                          <a:solidFill>
                            <a:srgbClr val="1D2321"/>
                          </a:solidFill>
                          <a:latin typeface="Arial"/>
                        </a:rPr>
                        <a:t>Claude, by Anthropic</a:t>
                      </a:r>
                    </a:p>
                  </a:txBody>
                  <a:tcPr marL="91440" marR="91440" marT="45720" marB="45720" anchor="ctr">
                    <a:solidFill>
                      <a:srgbClr val="FFFFFF"/>
                    </a:solidFill>
                  </a:tcPr>
                </a:tc>
                <a:tc>
                  <a:txBody>
                    <a:bodyPr wrap="square"/>
                    <a:lstStyle/>
                    <a:p>
                      <a:r>
                        <a:rPr sz="1400" b="0">
                          <a:solidFill>
                            <a:srgbClr val="1D2321"/>
                          </a:solidFill>
                          <a:latin typeface="Arial"/>
                        </a:rPr>
                        <a:t>the chat; the books without personal data</a:t>
                      </a:r>
                    </a:p>
                  </a:txBody>
                  <a:tcPr marL="91440" marR="91440" marT="45720" marB="45720" anchor="ctr">
                    <a:solidFill>
                      <a:srgbClr val="FFFFFF"/>
                    </a:solidFill>
                  </a:tcPr>
                </a:tc>
                <a:tc>
                  <a:txBody>
                    <a:bodyPr wrap="square"/>
                    <a:lstStyle/>
                    <a:p>
                      <a:r>
                        <a:rPr sz="1400" b="0">
                          <a:solidFill>
                            <a:srgbClr val="1D2321"/>
                          </a:solidFill>
                          <a:latin typeface="Arial"/>
                        </a:rPr>
                        <a:t>identity numbers, raw documents</a:t>
                      </a:r>
                    </a:p>
                  </a:txBody>
                  <a:tcPr marL="91440" marR="91440" marT="45720" marB="45720" anchor="ctr">
                    <a:solidFill>
                      <a:srgbClr val="FFFFFF"/>
                    </a:solidFill>
                  </a:tcPr>
                </a:tc>
              </a:tr>
              <a:tr h="960120">
                <a:tc>
                  <a:txBody>
                    <a:bodyPr wrap="square"/>
                    <a:lstStyle/>
                    <a:p>
                      <a:r>
                        <a:rPr sz="1400" b="1">
                          <a:solidFill>
                            <a:srgbClr val="1D2321"/>
                          </a:solidFill>
                          <a:latin typeface="Arial"/>
                        </a:rPr>
                        <a:t>Auditor</a:t>
                      </a:r>
                    </a:p>
                  </a:txBody>
                  <a:tcPr marL="91440" marR="91440" marT="45720" marB="45720" anchor="ctr">
                    <a:solidFill>
                      <a:srgbClr val="ECF3EF"/>
                    </a:solidFill>
                  </a:tcPr>
                </a:tc>
                <a:tc>
                  <a:txBody>
                    <a:bodyPr wrap="square"/>
                    <a:lstStyle/>
                    <a:p>
                      <a:r>
                        <a:rPr sz="1400" b="0">
                          <a:solidFill>
                            <a:srgbClr val="1D2321"/>
                          </a:solidFill>
                          <a:latin typeface="Arial"/>
                        </a:rPr>
                        <a:t>Qwen, by Alibaba</a:t>
                      </a:r>
                    </a:p>
                  </a:txBody>
                  <a:tcPr marL="91440" marR="91440" marT="45720" marB="45720" anchor="ctr">
                    <a:solidFill>
                      <a:srgbClr val="ECF3EF"/>
                    </a:solidFill>
                  </a:tcPr>
                </a:tc>
                <a:tc>
                  <a:txBody>
                    <a:bodyPr wrap="square"/>
                    <a:lstStyle/>
                    <a:p>
                      <a:r>
                        <a:rPr sz="1400" b="0">
                          <a:solidFill>
                            <a:srgbClr val="1D2321"/>
                          </a:solidFill>
                          <a:latin typeface="Arial"/>
                        </a:rPr>
                        <a:t>the payout; a typed case file from the books</a:t>
                      </a:r>
                    </a:p>
                  </a:txBody>
                  <a:tcPr marL="91440" marR="91440" marT="45720" marB="45720" anchor="ctr">
                    <a:solidFill>
                      <a:srgbClr val="ECF3EF"/>
                    </a:solidFill>
                  </a:tcPr>
                </a:tc>
                <a:tc>
                  <a:txBody>
                    <a:bodyPr wrap="square"/>
                    <a:lstStyle/>
                    <a:p>
                      <a:r>
                        <a:rPr sz="1400" b="0">
                          <a:solidFill>
                            <a:srgbClr val="1D2321"/>
                          </a:solidFill>
                          <a:latin typeface="Arial"/>
                        </a:rPr>
                        <a:t>the chat, notes, documents</a:t>
                      </a:r>
                    </a:p>
                  </a:txBody>
                  <a:tcPr marL="91440" marR="91440" marT="45720" marB="45720" anchor="ctr">
                    <a:solidFill>
                      <a:srgbClr val="ECF3EF"/>
                    </a:solidFill>
                  </a:tcPr>
                </a:tc>
              </a:tr>
              <a:tr h="960120">
                <a:tc>
                  <a:txBody>
                    <a:bodyPr wrap="square"/>
                    <a:lstStyle/>
                    <a:p>
                      <a:r>
                        <a:rPr sz="1400" b="1">
                          <a:solidFill>
                            <a:srgbClr val="1D2321"/>
                          </a:solidFill>
                          <a:latin typeface="Arial"/>
                        </a:rPr>
                        <a:t>Sentinel</a:t>
                      </a:r>
                    </a:p>
                  </a:txBody>
                  <a:tcPr marL="91440" marR="91440" marT="45720" marB="45720" anchor="ctr">
                    <a:solidFill>
                      <a:srgbClr val="FFFFFF"/>
                    </a:solidFill>
                  </a:tcPr>
                </a:tc>
                <a:tc>
                  <a:txBody>
                    <a:bodyPr wrap="square"/>
                    <a:lstStyle/>
                    <a:p>
                      <a:r>
                        <a:rPr sz="1400" b="0">
                          <a:solidFill>
                            <a:srgbClr val="1D2321"/>
                          </a:solidFill>
                          <a:latin typeface="Arial"/>
                        </a:rPr>
                        <a:t>8 rules, no model</a:t>
                      </a:r>
                    </a:p>
                  </a:txBody>
                  <a:tcPr marL="91440" marR="91440" marT="45720" marB="45720" anchor="ctr">
                    <a:solidFill>
                      <a:srgbClr val="FFFFFF"/>
                    </a:solidFill>
                  </a:tcPr>
                </a:tc>
                <a:tc>
                  <a:txBody>
                    <a:bodyPr wrap="square"/>
                    <a:lstStyle/>
                    <a:p>
                      <a:r>
                        <a:rPr sz="1400" b="0">
                          <a:solidFill>
                            <a:srgbClr val="1D2321"/>
                          </a:solidFill>
                          <a:latin typeface="Arial"/>
                        </a:rPr>
                        <a:t>numbers only: the books, the batch, the vault's events</a:t>
                      </a:r>
                    </a:p>
                  </a:txBody>
                  <a:tcPr marL="91440" marR="91440" marT="45720" marB="45720" anchor="ctr">
                    <a:solidFill>
                      <a:srgbClr val="FFFFFF"/>
                    </a:solidFill>
                  </a:tcPr>
                </a:tc>
                <a:tc>
                  <a:txBody>
                    <a:bodyPr wrap="square"/>
                    <a:lstStyle/>
                    <a:p>
                      <a:r>
                        <a:rPr sz="1400" b="0">
                          <a:solidFill>
                            <a:srgbClr val="1D2321"/>
                          </a:solidFill>
                          <a:latin typeface="Arial"/>
                        </a:rPr>
                        <a:t>any text</a:t>
                      </a:r>
                    </a:p>
                  </a:txBody>
                  <a:tcPr marL="91440" marR="91440" marT="45720" marB="45720" anchor="ctr">
                    <a:solidFill>
                      <a:srgbClr val="FFFFFF"/>
                    </a:solidFill>
                  </a:tcPr>
                </a:tc>
              </a:tr>
            </a:tbl>
          </a:graphicData>
        </a:graphic>
      </p:graphicFrame>
      <p:sp>
        <p:nvSpPr>
          <p:cNvPr id="8" name="Rounded Rectangle 7"/>
          <p:cNvSpPr/>
          <p:nvPr/>
        </p:nvSpPr>
        <p:spPr>
          <a:xfrm>
            <a:off x="8549640" y="1874519"/>
            <a:ext cx="3063240" cy="3840480"/>
          </a:xfrm>
          <a:prstGeom prst="roundRect">
            <a:avLst>
              <a:gd name="adj" fmla="val 8000"/>
            </a:avLst>
          </a:prstGeom>
          <a:solidFill>
            <a:srgbClr val="EC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714232" y="1965959"/>
            <a:ext cx="2734056" cy="3657600"/>
          </a:xfrm>
          <a:prstGeom prst="rect">
            <a:avLst/>
          </a:prstGeom>
          <a:noFill/>
        </p:spPr>
        <p:txBody>
          <a:bodyPr wrap="square" anchor="t" lIns="18288" rIns="18288" tIns="18288" bIns="18288">
            <a:spAutoFit/>
          </a:bodyPr>
          <a:lstStyle/>
          <a:p>
            <a:pPr algn="l">
              <a:lnSpc>
                <a:spcPct val="110000"/>
              </a:lnSpc>
              <a:spcAft>
                <a:spcPts val="700"/>
              </a:spcAft>
            </a:pPr>
            <a:r>
              <a:rPr sz="1600" b="1">
                <a:solidFill>
                  <a:srgbClr val="0B5D3B"/>
                </a:solidFill>
                <a:latin typeface="Arial"/>
              </a:rPr>
              <a:t>Checked by the contract</a:t>
            </a:r>
          </a:p>
          <a:p>
            <a:pPr algn="l">
              <a:lnSpc>
                <a:spcPct val="110000"/>
              </a:lnSpc>
              <a:spcAft>
                <a:spcPts val="700"/>
              </a:spcAft>
            </a:pPr>
            <a:r>
              <a:rPr sz="1400" b="0">
                <a:solidFill>
                  <a:srgbClr val="1D2321"/>
                </a:solidFill>
                <a:latin typeface="Arial"/>
              </a:rPr>
              <a:t>Each key's lineage is in an on-chain registry that only two trustees can change.</a:t>
            </a:r>
          </a:p>
          <a:p>
            <a:pPr algn="l">
              <a:lnSpc>
                <a:spcPct val="110000"/>
              </a:lnSpc>
              <a:spcAft>
                <a:spcPts val="0"/>
              </a:spcAft>
            </a:pPr>
            <a:r>
              <a:rPr sz="1400" b="0">
                <a:solidFill>
                  <a:srgbClr val="1D2321"/>
                </a:solidFill>
                <a:latin typeface="Arial"/>
              </a:rPr>
              <a:t>A quorum signed by two Claude keys reverts with SameLineage: scenario 11.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1094415" cy="320040"/>
          </a:xfrm>
          <a:prstGeom prst="rect">
            <a:avLst/>
          </a:prstGeom>
          <a:noFill/>
        </p:spPr>
        <p:txBody>
          <a:bodyPr wrap="square" anchor="t" lIns="18288" rIns="18288" tIns="18288" bIns="18288">
            <a:spAutoFit/>
          </a:bodyPr>
          <a:lstStyle/>
          <a:p>
            <a:pPr algn="l">
              <a:lnSpc>
                <a:spcPct val="110000"/>
              </a:lnSpc>
              <a:spcAft>
                <a:spcPts val="0"/>
              </a:spcAft>
            </a:pPr>
            <a:r>
              <a:rPr sz="1200" b="1">
                <a:solidFill>
                  <a:srgbClr val="0B5D3B"/>
                </a:solidFill>
                <a:latin typeface="Arial"/>
              </a:rPr>
              <a:t>5 · CONTRIBUTIONS 2 AND 4: TIERS ON-CHAIN, BOUNDED LOSS</a:t>
            </a:r>
          </a:p>
        </p:txBody>
      </p:sp>
      <p:sp>
        <p:nvSpPr>
          <p:cNvPr id="3" name="TextBox 2"/>
          <p:cNvSpPr txBox="1"/>
          <p:nvPr/>
        </p:nvSpPr>
        <p:spPr>
          <a:xfrm>
            <a:off x="548640" y="658368"/>
            <a:ext cx="11094415" cy="1097280"/>
          </a:xfrm>
          <a:prstGeom prst="rect">
            <a:avLst/>
          </a:prstGeom>
          <a:noFill/>
        </p:spPr>
        <p:txBody>
          <a:bodyPr wrap="square" anchor="t" lIns="18288" rIns="18288" tIns="18288" bIns="18288">
            <a:spAutoFit/>
          </a:bodyPr>
          <a:lstStyle/>
          <a:p>
            <a:pPr algn="l">
              <a:lnSpc>
                <a:spcPct val="100000"/>
              </a:lnSpc>
              <a:spcAft>
                <a:spcPts val="0"/>
              </a:spcAft>
            </a:pPr>
            <a:r>
              <a:rPr sz="2800" b="1">
                <a:solidFill>
                  <a:srgbClr val="1D2321"/>
                </a:solidFill>
                <a:latin typeface="Arial"/>
              </a:rPr>
              <a:t>The vault, not the agent, decides when a human signs, and caps what machines can move</a:t>
            </a:r>
          </a:p>
        </p:txBody>
      </p:sp>
      <p:sp>
        <p:nvSpPr>
          <p:cNvPr id="4" name="Rectangle 3"/>
          <p:cNvSpPr/>
          <p:nvPr/>
        </p:nvSpPr>
        <p:spPr>
          <a:xfrm>
            <a:off x="548640" y="6291072"/>
            <a:ext cx="11094415" cy="9525"/>
          </a:xfrm>
          <a:prstGeom prst="rect">
            <a:avLst/>
          </a:prstGeom>
          <a:solidFill>
            <a:srgbClr val="C9D6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355080"/>
            <a:ext cx="9631375" cy="365760"/>
          </a:xfrm>
          <a:prstGeom prst="rect">
            <a:avLst/>
          </a:prstGeom>
          <a:noFill/>
        </p:spPr>
        <p:txBody>
          <a:bodyPr wrap="square" anchor="t" lIns="18288" rIns="18288" tIns="18288" bIns="18288">
            <a:spAutoFit/>
          </a:bodyPr>
          <a:lstStyle/>
          <a:p>
            <a:pPr algn="l">
              <a:lnSpc>
                <a:spcPct val="110000"/>
              </a:lnSpc>
              <a:spcAft>
                <a:spcPts val="0"/>
              </a:spcAft>
            </a:pPr>
            <a:r>
              <a:rPr sz="1000" b="0">
                <a:solidFill>
                  <a:srgbClr val="5B6661"/>
                </a:solidFill>
                <a:latin typeface="Arial"/>
              </a:rPr>
              <a:t>Source: tierOf() in contracts/src/AmanahVault.sol; forge test --match-contract Invariant; docs/contract-tests.md</a:t>
            </a:r>
          </a:p>
        </p:txBody>
      </p:sp>
      <p:sp>
        <p:nvSpPr>
          <p:cNvPr id="6" name="TextBox 5"/>
          <p:cNvSpPr txBox="1"/>
          <p:nvPr/>
        </p:nvSpPr>
        <p:spPr>
          <a:xfrm>
            <a:off x="10362895" y="6355080"/>
            <a:ext cx="1280160" cy="365760"/>
          </a:xfrm>
          <a:prstGeom prst="rect">
            <a:avLst/>
          </a:prstGeom>
          <a:noFill/>
        </p:spPr>
        <p:txBody>
          <a:bodyPr wrap="square" anchor="t" lIns="18288" rIns="18288" tIns="18288" bIns="18288">
            <a:spAutoFit/>
          </a:bodyPr>
          <a:lstStyle/>
          <a:p>
            <a:pPr algn="r">
              <a:lnSpc>
                <a:spcPct val="110000"/>
              </a:lnSpc>
              <a:spcAft>
                <a:spcPts val="0"/>
              </a:spcAft>
            </a:pPr>
            <a:r>
              <a:rPr sz="1000" b="0">
                <a:solidFill>
                  <a:srgbClr val="5B6661"/>
                </a:solidFill>
                <a:latin typeface="Arial"/>
              </a:rPr>
              <a:t>Amanah  6 / 11</a:t>
            </a:r>
          </a:p>
        </p:txBody>
      </p:sp>
      <p:graphicFrame>
        <p:nvGraphicFramePr>
          <p:cNvPr id="7" name="Table 6"/>
          <p:cNvGraphicFramePr>
            <a:graphicFrameLocks noGrp="1"/>
          </p:cNvGraphicFramePr>
          <p:nvPr/>
        </p:nvGraphicFramePr>
        <p:xfrm>
          <a:off x="548640" y="1874519"/>
          <a:ext cx="6949440" cy="3840480"/>
        </p:xfrm>
        <a:graphic>
          <a:graphicData uri="http://schemas.openxmlformats.org/drawingml/2006/table">
            <a:tbl>
              <a:tblPr firstRow="1" bandRow="1">
                <a:tableStyleId>{5C22544A-7EE6-4342-B048-85BDC9FD1C3A}</a:tableStyleId>
              </a:tblPr>
              <a:tblGrid>
                <a:gridCol w="1389888"/>
                <a:gridCol w="3474720"/>
                <a:gridCol w="2084832"/>
              </a:tblGrid>
              <a:tr h="960120">
                <a:tc>
                  <a:txBody>
                    <a:bodyPr wrap="square"/>
                    <a:lstStyle/>
                    <a:p>
                      <a:r>
                        <a:rPr sz="1300" b="1">
                          <a:solidFill>
                            <a:srgbClr val="FFFFFF"/>
                          </a:solidFill>
                          <a:latin typeface="Arial"/>
                        </a:rPr>
                        <a:t>Tier</a:t>
                      </a:r>
                    </a:p>
                  </a:txBody>
                  <a:tcPr marL="91440" marR="91440" marT="45720" marB="45720" anchor="ctr">
                    <a:solidFill>
                      <a:srgbClr val="0B5D3B"/>
                    </a:solidFill>
                  </a:tcPr>
                </a:tc>
                <a:tc>
                  <a:txBody>
                    <a:bodyPr wrap="square"/>
                    <a:lstStyle/>
                    <a:p>
                      <a:r>
                        <a:rPr sz="1300" b="1">
                          <a:solidFill>
                            <a:srgbClr val="FFFFFF"/>
                          </a:solidFill>
                          <a:latin typeface="Arial"/>
                        </a:rPr>
                        <a:t>When</a:t>
                      </a:r>
                    </a:p>
                  </a:txBody>
                  <a:tcPr marL="91440" marR="91440" marT="45720" marB="45720" anchor="ctr">
                    <a:solidFill>
                      <a:srgbClr val="0B5D3B"/>
                    </a:solidFill>
                  </a:tcPr>
                </a:tc>
                <a:tc>
                  <a:txBody>
                    <a:bodyPr wrap="square"/>
                    <a:lstStyle/>
                    <a:p>
                      <a:r>
                        <a:rPr sz="1300" b="1">
                          <a:solidFill>
                            <a:srgbClr val="FFFFFF"/>
                          </a:solidFill>
                          <a:latin typeface="Arial"/>
                        </a:rPr>
                        <a:t>Who signs</a:t>
                      </a:r>
                    </a:p>
                  </a:txBody>
                  <a:tcPr marL="91440" marR="91440" marT="45720" marB="45720" anchor="ctr">
                    <a:solidFill>
                      <a:srgbClr val="0B5D3B"/>
                    </a:solidFill>
                  </a:tcPr>
                </a:tc>
              </a:tr>
              <a:tr h="960120">
                <a:tc>
                  <a:txBody>
                    <a:bodyPr wrap="square"/>
                    <a:lstStyle/>
                    <a:p>
                      <a:r>
                        <a:rPr sz="1400" b="1">
                          <a:solidFill>
                            <a:srgbClr val="1D2321"/>
                          </a:solidFill>
                          <a:latin typeface="Arial"/>
                        </a:rPr>
                        <a:t>1 Routine</a:t>
                      </a:r>
                    </a:p>
                  </a:txBody>
                  <a:tcPr marL="91440" marR="91440" marT="45720" marB="45720" anchor="ctr">
                    <a:solidFill>
                      <a:srgbClr val="FFFFFF"/>
                    </a:solidFill>
                  </a:tcPr>
                </a:tc>
                <a:tc>
                  <a:txBody>
                    <a:bodyPr wrap="square"/>
                    <a:lstStyle/>
                    <a:p>
                      <a:r>
                        <a:rPr sz="1400" b="0">
                          <a:solidFill>
                            <a:srgbClr val="1D2321"/>
                          </a:solidFill>
                          <a:latin typeface="Arial"/>
                        </a:rPr>
                        <a:t>at or under the cap, today's spend at or under 80% of the budget, posture normal</a:t>
                      </a:r>
                    </a:p>
                  </a:txBody>
                  <a:tcPr marL="91440" marR="91440" marT="45720" marB="45720" anchor="ctr">
                    <a:solidFill>
                      <a:srgbClr val="FFFFFF"/>
                    </a:solidFill>
                  </a:tcPr>
                </a:tc>
                <a:tc>
                  <a:txBody>
                    <a:bodyPr wrap="square"/>
                    <a:lstStyle/>
                    <a:p>
                      <a:r>
                        <a:rPr sz="1400" b="0">
                          <a:solidFill>
                            <a:srgbClr val="1D2321"/>
                          </a:solidFill>
                          <a:latin typeface="Arial"/>
                        </a:rPr>
                        <a:t>planner, auditor, sentinel</a:t>
                      </a:r>
                    </a:p>
                  </a:txBody>
                  <a:tcPr marL="91440" marR="91440" marT="45720" marB="45720" anchor="ctr">
                    <a:solidFill>
                      <a:srgbClr val="FFFFFF"/>
                    </a:solidFill>
                  </a:tcPr>
                </a:tc>
              </a:tr>
              <a:tr h="960120">
                <a:tc>
                  <a:txBody>
                    <a:bodyPr wrap="square"/>
                    <a:lstStyle/>
                    <a:p>
                      <a:r>
                        <a:rPr sz="1400" b="1">
                          <a:solidFill>
                            <a:srgbClr val="1D2321"/>
                          </a:solidFill>
                          <a:latin typeface="Arial"/>
                        </a:rPr>
                        <a:t>2 Elevated</a:t>
                      </a:r>
                    </a:p>
                  </a:txBody>
                  <a:tcPr marL="91440" marR="91440" marT="45720" marB="45720" anchor="ctr">
                    <a:solidFill>
                      <a:srgbClr val="ECF3EF"/>
                    </a:solidFill>
                  </a:tcPr>
                </a:tc>
                <a:tc>
                  <a:txBody>
                    <a:bodyPr wrap="square"/>
                    <a:lstStyle/>
                    <a:p>
                      <a:r>
                        <a:rPr sz="1400" b="0">
                          <a:solidFill>
                            <a:srgbClr val="1D2321"/>
                          </a:solidFill>
                          <a:latin typeface="Arial"/>
                        </a:rPr>
                        <a:t>above the cap, past the 80% line, or posture raised</a:t>
                      </a:r>
                    </a:p>
                  </a:txBody>
                  <a:tcPr marL="91440" marR="91440" marT="45720" marB="45720" anchor="ctr">
                    <a:solidFill>
                      <a:srgbClr val="ECF3EF"/>
                    </a:solidFill>
                  </a:tcPr>
                </a:tc>
                <a:tc>
                  <a:txBody>
                    <a:bodyPr wrap="square"/>
                    <a:lstStyle/>
                    <a:p>
                      <a:r>
                        <a:rPr sz="1400" b="0">
                          <a:solidFill>
                            <a:srgbClr val="1D2321"/>
                          </a:solidFill>
                          <a:latin typeface="Arial"/>
                        </a:rPr>
                        <a:t>the three, plus a trustee</a:t>
                      </a:r>
                    </a:p>
                  </a:txBody>
                  <a:tcPr marL="91440" marR="91440" marT="45720" marB="45720" anchor="ctr">
                    <a:solidFill>
                      <a:srgbClr val="ECF3EF"/>
                    </a:solidFill>
                  </a:tcPr>
                </a:tc>
              </a:tr>
              <a:tr h="960120">
                <a:tc>
                  <a:txBody>
                    <a:bodyPr wrap="square"/>
                    <a:lstStyle/>
                    <a:p>
                      <a:r>
                        <a:rPr sz="1400" b="1">
                          <a:solidFill>
                            <a:srgbClr val="1D2321"/>
                          </a:solidFill>
                          <a:latin typeface="Arial"/>
                        </a:rPr>
                        <a:t>3 Override</a:t>
                      </a:r>
                    </a:p>
                  </a:txBody>
                  <a:tcPr marL="91440" marR="91440" marT="45720" marB="45720" anchor="ctr">
                    <a:solidFill>
                      <a:srgbClr val="FFFFFF"/>
                    </a:solidFill>
                  </a:tcPr>
                </a:tc>
                <a:tc>
                  <a:txBody>
                    <a:bodyPr wrap="square"/>
                    <a:lstStyle/>
                    <a:p>
                      <a:r>
                        <a:rPr sz="1400" b="0">
                          <a:solidFill>
                            <a:srgbClr val="1D2321"/>
                          </a:solidFill>
                          <a:latin typeface="Arial"/>
                        </a:rPr>
                        <a:t>citing an anchored refusal for the same payout</a:t>
                      </a:r>
                    </a:p>
                  </a:txBody>
                  <a:tcPr marL="91440" marR="91440" marT="45720" marB="45720" anchor="ctr">
                    <a:solidFill>
                      <a:srgbClr val="FFFFFF"/>
                    </a:solidFill>
                  </a:tcPr>
                </a:tc>
                <a:tc>
                  <a:txBody>
                    <a:bodyPr wrap="square"/>
                    <a:lstStyle/>
                    <a:p>
                      <a:r>
                        <a:rPr sz="1400" b="0">
                          <a:solidFill>
                            <a:srgbClr val="1D2321"/>
                          </a:solidFill>
                          <a:latin typeface="Arial"/>
                        </a:rPr>
                        <a:t>planner and two trustees</a:t>
                      </a:r>
                    </a:p>
                  </a:txBody>
                  <a:tcPr marL="91440" marR="91440" marT="45720" marB="45720" anchor="ctr">
                    <a:solidFill>
                      <a:srgbClr val="FFFFFF"/>
                    </a:solidFill>
                  </a:tcPr>
                </a:tc>
              </a:tr>
            </a:tbl>
          </a:graphicData>
        </a:graphic>
      </p:graphicFrame>
      <p:sp>
        <p:nvSpPr>
          <p:cNvPr id="8" name="Rounded Rectangle 7"/>
          <p:cNvSpPr/>
          <p:nvPr/>
        </p:nvSpPr>
        <p:spPr>
          <a:xfrm>
            <a:off x="7818120" y="1874519"/>
            <a:ext cx="3794760" cy="3840480"/>
          </a:xfrm>
          <a:prstGeom prst="roundRect">
            <a:avLst>
              <a:gd name="adj" fmla="val 8000"/>
            </a:avLst>
          </a:prstGeom>
          <a:solidFill>
            <a:srgbClr val="EC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982712" y="1965959"/>
            <a:ext cx="3465576" cy="3657600"/>
          </a:xfrm>
          <a:prstGeom prst="rect">
            <a:avLst/>
          </a:prstGeom>
          <a:noFill/>
        </p:spPr>
        <p:txBody>
          <a:bodyPr wrap="square" anchor="t" lIns="18288" rIns="18288" tIns="18288" bIns="18288">
            <a:spAutoFit/>
          </a:bodyPr>
          <a:lstStyle/>
          <a:p>
            <a:pPr algn="l">
              <a:lnSpc>
                <a:spcPct val="110000"/>
              </a:lnSpc>
              <a:spcAft>
                <a:spcPts val="700"/>
              </a:spcAft>
            </a:pPr>
            <a:r>
              <a:rPr sz="1600" b="1">
                <a:solidFill>
                  <a:srgbClr val="0B5D3B"/>
                </a:solidFill>
                <a:latin typeface="Arial"/>
              </a:rPr>
              <a:t>If every machine signer is compromised</a:t>
            </a:r>
          </a:p>
          <a:p>
            <a:pPr algn="l">
              <a:lnSpc>
                <a:spcPct val="110000"/>
              </a:lnSpc>
              <a:spcAft>
                <a:spcPts val="700"/>
              </a:spcAft>
            </a:pPr>
            <a:r>
              <a:rPr sz="1400" b="0">
                <a:solidFill>
                  <a:srgbClr val="1D2321"/>
                </a:solidFill>
                <a:latin typeface="Arial"/>
              </a:rPr>
              <a:t>Money reaches only beneficiaries two trustees approved for that programme.</a:t>
            </a:r>
          </a:p>
          <a:p>
            <a:pPr algn="l">
              <a:lnSpc>
                <a:spcPct val="110000"/>
              </a:lnSpc>
              <a:spcAft>
                <a:spcPts val="700"/>
              </a:spcAft>
            </a:pPr>
            <a:r>
              <a:rPr sz="1400" b="0">
                <a:solidFill>
                  <a:srgbClr val="1D2321"/>
                </a:solidFill>
                <a:latin typeface="Arial"/>
              </a:rPr>
              <a:t>At most 80% of each daily budget moves without a human, per day.</a:t>
            </a:r>
          </a:p>
          <a:p>
            <a:pPr algn="l">
              <a:lnSpc>
                <a:spcPct val="110000"/>
              </a:lnSpc>
              <a:spcAft>
                <a:spcPts val="700"/>
              </a:spcAft>
            </a:pPr>
            <a:r>
              <a:rPr sz="1400" b="0">
                <a:solidFill>
                  <a:srgbClr val="1D2321"/>
                </a:solidFill>
                <a:latin typeface="Arial"/>
              </a:rPr>
              <a:t>Each household stays within its 30-day cap.</a:t>
            </a:r>
          </a:p>
          <a:p>
            <a:pPr algn="l">
              <a:lnSpc>
                <a:spcPct val="110000"/>
              </a:lnSpc>
              <a:spcAft>
                <a:spcPts val="0"/>
              </a:spcAft>
            </a:pPr>
            <a:r>
              <a:rPr sz="1400" b="1">
                <a:solidFill>
                  <a:srgbClr val="1D2321"/>
                </a:solidFill>
                <a:latin typeface="Arial"/>
              </a:rPr>
              <a:t>8 invariants hold over 16,384 random calls each.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1094415" cy="320040"/>
          </a:xfrm>
          <a:prstGeom prst="rect">
            <a:avLst/>
          </a:prstGeom>
          <a:noFill/>
        </p:spPr>
        <p:txBody>
          <a:bodyPr wrap="square" anchor="t" lIns="18288" rIns="18288" tIns="18288" bIns="18288">
            <a:spAutoFit/>
          </a:bodyPr>
          <a:lstStyle/>
          <a:p>
            <a:pPr algn="l">
              <a:lnSpc>
                <a:spcPct val="110000"/>
              </a:lnSpc>
              <a:spcAft>
                <a:spcPts val="0"/>
              </a:spcAft>
            </a:pPr>
            <a:r>
              <a:rPr sz="1200" b="1">
                <a:solidFill>
                  <a:srgbClr val="0B5D3B"/>
                </a:solidFill>
                <a:latin typeface="Arial"/>
              </a:rPr>
              <a:t>6 · CONTRIBUTION 3 OF 5: THE IMMUNE LOOP</a:t>
            </a:r>
          </a:p>
        </p:txBody>
      </p:sp>
      <p:sp>
        <p:nvSpPr>
          <p:cNvPr id="3" name="TextBox 2"/>
          <p:cNvSpPr txBox="1"/>
          <p:nvPr/>
        </p:nvSpPr>
        <p:spPr>
          <a:xfrm>
            <a:off x="548640" y="658368"/>
            <a:ext cx="11094415" cy="1097280"/>
          </a:xfrm>
          <a:prstGeom prst="rect">
            <a:avLst/>
          </a:prstGeom>
          <a:noFill/>
        </p:spPr>
        <p:txBody>
          <a:bodyPr wrap="square" anchor="t" lIns="18288" rIns="18288" tIns="18288" bIns="18288">
            <a:spAutoFit/>
          </a:bodyPr>
          <a:lstStyle/>
          <a:p>
            <a:pPr algn="l">
              <a:lnSpc>
                <a:spcPct val="100000"/>
              </a:lnSpc>
              <a:spcAft>
                <a:spcPts val="0"/>
              </a:spcAft>
            </a:pPr>
            <a:r>
              <a:rPr sz="2800" b="1">
                <a:solidFill>
                  <a:srgbClr val="1D2321"/>
                </a:solidFill>
                <a:latin typeface="Arial"/>
              </a:rPr>
              <a:t>When attacks start to work, the wallet gets stricter on its own, and only two trustees can loosen it</a:t>
            </a:r>
          </a:p>
        </p:txBody>
      </p:sp>
      <p:sp>
        <p:nvSpPr>
          <p:cNvPr id="4" name="Rectangle 3"/>
          <p:cNvSpPr/>
          <p:nvPr/>
        </p:nvSpPr>
        <p:spPr>
          <a:xfrm>
            <a:off x="548640" y="6291072"/>
            <a:ext cx="11094415" cy="9525"/>
          </a:xfrm>
          <a:prstGeom prst="rect">
            <a:avLst/>
          </a:prstGeom>
          <a:solidFill>
            <a:srgbClr val="C9D6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355080"/>
            <a:ext cx="9631375" cy="365760"/>
          </a:xfrm>
          <a:prstGeom prst="rect">
            <a:avLst/>
          </a:prstGeom>
          <a:noFill/>
        </p:spPr>
        <p:txBody>
          <a:bodyPr wrap="square" anchor="t" lIns="18288" rIns="18288" tIns="18288" bIns="18288">
            <a:spAutoFit/>
          </a:bodyPr>
          <a:lstStyle/>
          <a:p>
            <a:pPr algn="l">
              <a:lnSpc>
                <a:spcPct val="110000"/>
              </a:lnSpc>
              <a:spcAft>
                <a:spcPts val="0"/>
              </a:spcAft>
            </a:pPr>
            <a:r>
              <a:rPr sz="1000" b="0">
                <a:solidFill>
                  <a:srgbClr val="5B6661"/>
                </a:solidFill>
                <a:latin typeface="Arial"/>
              </a:rPr>
              <a:t>Source: redteam/immune.py and backend/app/agentwallet/posture.py; scenario 14 on Base Sepolia, [[fill: scenario 14 tx]]</a:t>
            </a:r>
          </a:p>
        </p:txBody>
      </p:sp>
      <p:sp>
        <p:nvSpPr>
          <p:cNvPr id="6" name="TextBox 5"/>
          <p:cNvSpPr txBox="1"/>
          <p:nvPr/>
        </p:nvSpPr>
        <p:spPr>
          <a:xfrm>
            <a:off x="10362895" y="6355080"/>
            <a:ext cx="1280160" cy="365760"/>
          </a:xfrm>
          <a:prstGeom prst="rect">
            <a:avLst/>
          </a:prstGeom>
          <a:noFill/>
        </p:spPr>
        <p:txBody>
          <a:bodyPr wrap="square" anchor="t" lIns="18288" rIns="18288" tIns="18288" bIns="18288">
            <a:spAutoFit/>
          </a:bodyPr>
          <a:lstStyle/>
          <a:p>
            <a:pPr algn="r">
              <a:lnSpc>
                <a:spcPct val="110000"/>
              </a:lnSpc>
              <a:spcAft>
                <a:spcPts val="0"/>
              </a:spcAft>
            </a:pPr>
            <a:r>
              <a:rPr sz="1000" b="0">
                <a:solidFill>
                  <a:srgbClr val="5B6661"/>
                </a:solidFill>
                <a:latin typeface="Arial"/>
              </a:rPr>
              <a:t>Amanah  7 / 11</a:t>
            </a:r>
          </a:p>
        </p:txBody>
      </p:sp>
      <p:sp>
        <p:nvSpPr>
          <p:cNvPr id="7" name="Rounded Rectangle 6"/>
          <p:cNvSpPr/>
          <p:nvPr/>
        </p:nvSpPr>
        <p:spPr>
          <a:xfrm>
            <a:off x="548640" y="2057399"/>
            <a:ext cx="1645920" cy="1737360"/>
          </a:xfrm>
          <a:prstGeom prst="roundRect">
            <a:avLst>
              <a:gd name="adj" fmla="val 8000"/>
            </a:avLst>
          </a:prstGeom>
          <a:solidFill>
            <a:srgbClr val="EC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13232" y="2148839"/>
            <a:ext cx="1316736" cy="1554480"/>
          </a:xfrm>
          <a:prstGeom prst="rect">
            <a:avLst/>
          </a:prstGeom>
          <a:noFill/>
        </p:spPr>
        <p:txBody>
          <a:bodyPr wrap="square" anchor="ctr" lIns="18288" rIns="18288" tIns="18288" bIns="18288">
            <a:spAutoFit/>
          </a:bodyPr>
          <a:lstStyle/>
          <a:p>
            <a:pPr algn="ctr">
              <a:lnSpc>
                <a:spcPct val="110000"/>
              </a:lnSpc>
              <a:spcAft>
                <a:spcPts val="700"/>
              </a:spcAft>
            </a:pPr>
            <a:r>
              <a:rPr sz="1700" b="1">
                <a:solidFill>
                  <a:srgbClr val="0B5D3B"/>
                </a:solidFill>
                <a:latin typeface="Arial"/>
              </a:rPr>
              <a:t>Attack</a:t>
            </a:r>
          </a:p>
          <a:p>
            <a:pPr algn="ctr">
              <a:lnSpc>
                <a:spcPct val="110000"/>
              </a:lnSpc>
              <a:spcAft>
                <a:spcPts val="0"/>
              </a:spcAft>
            </a:pPr>
            <a:r>
              <a:rPr sz="1400" b="0">
                <a:solidFill>
                  <a:srgbClr val="1D2321"/>
                </a:solidFill>
                <a:latin typeface="Arial"/>
              </a:rPr>
              <a:t>a sandbox copy, every day</a:t>
            </a:r>
          </a:p>
        </p:txBody>
      </p:sp>
      <p:sp>
        <p:nvSpPr>
          <p:cNvPr id="9" name="Right Arrow 8"/>
          <p:cNvSpPr/>
          <p:nvPr/>
        </p:nvSpPr>
        <p:spPr>
          <a:xfrm>
            <a:off x="2212848" y="2788919"/>
            <a:ext cx="201168" cy="256032"/>
          </a:xfrm>
          <a:prstGeom prst="rightArrow">
            <a:avLst/>
          </a:prstGeom>
          <a:solidFill>
            <a:srgbClr val="0B5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432304" y="2057399"/>
            <a:ext cx="1645920" cy="1737360"/>
          </a:xfrm>
          <a:prstGeom prst="roundRect">
            <a:avLst>
              <a:gd name="adj" fmla="val 8000"/>
            </a:avLst>
          </a:prstGeom>
          <a:solidFill>
            <a:srgbClr val="EC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2596896" y="2148839"/>
            <a:ext cx="1316736" cy="1554480"/>
          </a:xfrm>
          <a:prstGeom prst="rect">
            <a:avLst/>
          </a:prstGeom>
          <a:noFill/>
        </p:spPr>
        <p:txBody>
          <a:bodyPr wrap="square" anchor="ctr" lIns="18288" rIns="18288" tIns="18288" bIns="18288">
            <a:spAutoFit/>
          </a:bodyPr>
          <a:lstStyle/>
          <a:p>
            <a:pPr algn="ctr">
              <a:lnSpc>
                <a:spcPct val="110000"/>
              </a:lnSpc>
              <a:spcAft>
                <a:spcPts val="700"/>
              </a:spcAft>
            </a:pPr>
            <a:r>
              <a:rPr sz="1700" b="1">
                <a:solidFill>
                  <a:srgbClr val="0B5D3B"/>
                </a:solidFill>
                <a:latin typeface="Arial"/>
              </a:rPr>
              <a:t>Measure</a:t>
            </a:r>
          </a:p>
          <a:p>
            <a:pPr algn="ctr">
              <a:lnSpc>
                <a:spcPct val="110000"/>
              </a:lnSpc>
              <a:spcAft>
                <a:spcPts val="0"/>
              </a:spcAft>
            </a:pPr>
            <a:r>
              <a:rPr sz="1400" b="0">
                <a:solidFill>
                  <a:srgbClr val="1D2321"/>
                </a:solidFill>
                <a:latin typeface="Arial"/>
              </a:rPr>
              <a:t>joint failure of planner and auditor</a:t>
            </a:r>
          </a:p>
        </p:txBody>
      </p:sp>
      <p:sp>
        <p:nvSpPr>
          <p:cNvPr id="12" name="Right Arrow 11"/>
          <p:cNvSpPr/>
          <p:nvPr/>
        </p:nvSpPr>
        <p:spPr>
          <a:xfrm>
            <a:off x="4096512" y="2788919"/>
            <a:ext cx="201168" cy="256032"/>
          </a:xfrm>
          <a:prstGeom prst="rightArrow">
            <a:avLst/>
          </a:prstGeom>
          <a:solidFill>
            <a:srgbClr val="0B5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15968" y="2057399"/>
            <a:ext cx="1645920" cy="1737360"/>
          </a:xfrm>
          <a:prstGeom prst="roundRect">
            <a:avLst>
              <a:gd name="adj" fmla="val 8000"/>
            </a:avLst>
          </a:prstGeom>
          <a:solidFill>
            <a:srgbClr val="EC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480560" y="2148839"/>
            <a:ext cx="1316736" cy="1554480"/>
          </a:xfrm>
          <a:prstGeom prst="rect">
            <a:avLst/>
          </a:prstGeom>
          <a:noFill/>
        </p:spPr>
        <p:txBody>
          <a:bodyPr wrap="square" anchor="ctr" lIns="18288" rIns="18288" tIns="18288" bIns="18288">
            <a:spAutoFit/>
          </a:bodyPr>
          <a:lstStyle/>
          <a:p>
            <a:pPr algn="ctr">
              <a:lnSpc>
                <a:spcPct val="110000"/>
              </a:lnSpc>
              <a:spcAft>
                <a:spcPts val="700"/>
              </a:spcAft>
            </a:pPr>
            <a:r>
              <a:rPr sz="1700" b="1">
                <a:solidFill>
                  <a:srgbClr val="0B5D3B"/>
                </a:solidFill>
                <a:latin typeface="Arial"/>
              </a:rPr>
              <a:t>Anchor</a:t>
            </a:r>
          </a:p>
          <a:p>
            <a:pPr algn="ctr">
              <a:lnSpc>
                <a:spcPct val="110000"/>
              </a:lnSpc>
              <a:spcAft>
                <a:spcPts val="0"/>
              </a:spcAft>
            </a:pPr>
            <a:r>
              <a:rPr sz="1400" b="0">
                <a:solidFill>
                  <a:srgbClr val="1D2321"/>
                </a:solidFill>
                <a:latin typeface="Arial"/>
              </a:rPr>
              <a:t>the report's hash, on-chain</a:t>
            </a:r>
          </a:p>
        </p:txBody>
      </p:sp>
      <p:sp>
        <p:nvSpPr>
          <p:cNvPr id="15" name="Right Arrow 14"/>
          <p:cNvSpPr/>
          <p:nvPr/>
        </p:nvSpPr>
        <p:spPr>
          <a:xfrm>
            <a:off x="5980176" y="2788919"/>
            <a:ext cx="201168" cy="256032"/>
          </a:xfrm>
          <a:prstGeom prst="rightArrow">
            <a:avLst/>
          </a:prstGeom>
          <a:solidFill>
            <a:srgbClr val="0B5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199632" y="2057399"/>
            <a:ext cx="1645920" cy="1737360"/>
          </a:xfrm>
          <a:prstGeom prst="roundRect">
            <a:avLst>
              <a:gd name="adj" fmla="val 8000"/>
            </a:avLst>
          </a:prstGeom>
          <a:solidFill>
            <a:srgbClr val="EC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364224" y="2148839"/>
            <a:ext cx="1316736" cy="1554480"/>
          </a:xfrm>
          <a:prstGeom prst="rect">
            <a:avLst/>
          </a:prstGeom>
          <a:noFill/>
        </p:spPr>
        <p:txBody>
          <a:bodyPr wrap="square" anchor="ctr" lIns="18288" rIns="18288" tIns="18288" bIns="18288">
            <a:spAutoFit/>
          </a:bodyPr>
          <a:lstStyle/>
          <a:p>
            <a:pPr algn="ctr">
              <a:lnSpc>
                <a:spcPct val="110000"/>
              </a:lnSpc>
              <a:spcAft>
                <a:spcPts val="700"/>
              </a:spcAft>
            </a:pPr>
            <a:r>
              <a:rPr sz="1700" b="1">
                <a:solidFill>
                  <a:srgbClr val="8A5A00"/>
                </a:solidFill>
                <a:latin typeface="Arial"/>
              </a:rPr>
              <a:t>Raise</a:t>
            </a:r>
          </a:p>
          <a:p>
            <a:pPr algn="ctr">
              <a:lnSpc>
                <a:spcPct val="110000"/>
              </a:lnSpc>
              <a:spcAft>
                <a:spcPts val="0"/>
              </a:spcAft>
            </a:pPr>
            <a:r>
              <a:rPr sz="1400" b="0">
                <a:solidFill>
                  <a:srgbClr val="1D2321"/>
                </a:solidFill>
                <a:latin typeface="Arial"/>
              </a:rPr>
              <a:t>posture 1 above 10%, posture 2 above 25%</a:t>
            </a:r>
          </a:p>
        </p:txBody>
      </p:sp>
      <p:sp>
        <p:nvSpPr>
          <p:cNvPr id="18" name="Right Arrow 17"/>
          <p:cNvSpPr/>
          <p:nvPr/>
        </p:nvSpPr>
        <p:spPr>
          <a:xfrm>
            <a:off x="7863840" y="2788919"/>
            <a:ext cx="201168" cy="256032"/>
          </a:xfrm>
          <a:prstGeom prst="rightArrow">
            <a:avLst/>
          </a:prstGeom>
          <a:solidFill>
            <a:srgbClr val="0B5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083296" y="2057399"/>
            <a:ext cx="1645920" cy="1737360"/>
          </a:xfrm>
          <a:prstGeom prst="roundRect">
            <a:avLst>
              <a:gd name="adj" fmla="val 8000"/>
            </a:avLst>
          </a:prstGeom>
          <a:solidFill>
            <a:srgbClr val="EC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247888" y="2148839"/>
            <a:ext cx="1316736" cy="1554480"/>
          </a:xfrm>
          <a:prstGeom prst="rect">
            <a:avLst/>
          </a:prstGeom>
          <a:noFill/>
        </p:spPr>
        <p:txBody>
          <a:bodyPr wrap="square" anchor="ctr" lIns="18288" rIns="18288" tIns="18288" bIns="18288">
            <a:spAutoFit/>
          </a:bodyPr>
          <a:lstStyle/>
          <a:p>
            <a:pPr algn="ctr">
              <a:lnSpc>
                <a:spcPct val="110000"/>
              </a:lnSpc>
              <a:spcAft>
                <a:spcPts val="700"/>
              </a:spcAft>
            </a:pPr>
            <a:r>
              <a:rPr sz="1700" b="1">
                <a:solidFill>
                  <a:srgbClr val="8A5A00"/>
                </a:solidFill>
                <a:latin typeface="Arial"/>
              </a:rPr>
              <a:t>Hold</a:t>
            </a:r>
          </a:p>
          <a:p>
            <a:pPr algn="ctr">
              <a:lnSpc>
                <a:spcPct val="110000"/>
              </a:lnSpc>
              <a:spcAft>
                <a:spcPts val="0"/>
              </a:spcAft>
            </a:pPr>
            <a:r>
              <a:rPr sz="1400" b="0">
                <a:solidFill>
                  <a:srgbClr val="1D2321"/>
                </a:solidFill>
                <a:latin typeface="Arial"/>
              </a:rPr>
              <a:t>every payout needs a trustee</a:t>
            </a:r>
          </a:p>
        </p:txBody>
      </p:sp>
      <p:sp>
        <p:nvSpPr>
          <p:cNvPr id="21" name="Right Arrow 20"/>
          <p:cNvSpPr/>
          <p:nvPr/>
        </p:nvSpPr>
        <p:spPr>
          <a:xfrm>
            <a:off x="9747504" y="2788919"/>
            <a:ext cx="201168" cy="256032"/>
          </a:xfrm>
          <a:prstGeom prst="rightArrow">
            <a:avLst/>
          </a:prstGeom>
          <a:solidFill>
            <a:srgbClr val="0B5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966960" y="2057399"/>
            <a:ext cx="1645920" cy="1737360"/>
          </a:xfrm>
          <a:prstGeom prst="roundRect">
            <a:avLst>
              <a:gd name="adj" fmla="val 8000"/>
            </a:avLst>
          </a:prstGeom>
          <a:solidFill>
            <a:srgbClr val="EC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0131552" y="2148839"/>
            <a:ext cx="1316736" cy="1554480"/>
          </a:xfrm>
          <a:prstGeom prst="rect">
            <a:avLst/>
          </a:prstGeom>
          <a:noFill/>
        </p:spPr>
        <p:txBody>
          <a:bodyPr wrap="square" anchor="ctr" lIns="18288" rIns="18288" tIns="18288" bIns="18288">
            <a:spAutoFit/>
          </a:bodyPr>
          <a:lstStyle/>
          <a:p>
            <a:pPr algn="ctr">
              <a:lnSpc>
                <a:spcPct val="110000"/>
              </a:lnSpc>
              <a:spcAft>
                <a:spcPts val="700"/>
              </a:spcAft>
            </a:pPr>
            <a:r>
              <a:rPr sz="1700" b="1">
                <a:solidFill>
                  <a:srgbClr val="0B5D3B"/>
                </a:solidFill>
                <a:latin typeface="Arial"/>
              </a:rPr>
              <a:t>Lower</a:t>
            </a:r>
          </a:p>
          <a:p>
            <a:pPr algn="ctr">
              <a:lnSpc>
                <a:spcPct val="110000"/>
              </a:lnSpc>
              <a:spcAft>
                <a:spcPts val="0"/>
              </a:spcAft>
            </a:pPr>
            <a:r>
              <a:rPr sz="1400" b="0">
                <a:solidFill>
                  <a:srgbClr val="1D2321"/>
                </a:solidFill>
                <a:latin typeface="Arial"/>
              </a:rPr>
              <a:t>only with two trustee signatures</a:t>
            </a:r>
          </a:p>
        </p:txBody>
      </p:sp>
      <p:sp>
        <p:nvSpPr>
          <p:cNvPr id="24" name="Rounded Rectangle 23"/>
          <p:cNvSpPr/>
          <p:nvPr/>
        </p:nvSpPr>
        <p:spPr>
          <a:xfrm>
            <a:off x="548640" y="4206239"/>
            <a:ext cx="11094415" cy="1554480"/>
          </a:xfrm>
          <a:prstGeom prst="roundRect">
            <a:avLst>
              <a:gd name="adj" fmla="val 8000"/>
            </a:avLst>
          </a:prstGeom>
          <a:solidFill>
            <a:srgbClr val="EC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13232" y="4297679"/>
            <a:ext cx="10765231" cy="1371600"/>
          </a:xfrm>
          <a:prstGeom prst="rect">
            <a:avLst/>
          </a:prstGeom>
          <a:noFill/>
        </p:spPr>
        <p:txBody>
          <a:bodyPr wrap="square" anchor="t" lIns="18288" rIns="18288" tIns="18288" bIns="18288">
            <a:spAutoFit/>
          </a:bodyPr>
          <a:lstStyle/>
          <a:p>
            <a:pPr algn="l">
              <a:lnSpc>
                <a:spcPct val="110000"/>
              </a:lnSpc>
              <a:spcAft>
                <a:spcPts val="700"/>
              </a:spcAft>
            </a:pPr>
            <a:r>
              <a:rPr sz="1600" b="1">
                <a:solidFill>
                  <a:srgbClr val="0B5D3B"/>
                </a:solidFill>
                <a:latin typeface="Arial"/>
              </a:rPr>
              <a:t>A one-way ratchet</a:t>
            </a:r>
          </a:p>
          <a:p>
            <a:pPr algn="l">
              <a:lnSpc>
                <a:spcPct val="110000"/>
              </a:lnSpc>
              <a:spcAft>
                <a:spcPts val="700"/>
              </a:spcAft>
            </a:pPr>
            <a:r>
              <a:rPr sz="1500" b="0">
                <a:solidFill>
                  <a:srgbClr val="1D2321"/>
                </a:solidFill>
                <a:latin typeface="Arial"/>
              </a:rPr>
              <a:t>The posture oracle's key can only anchor reports and raise the posture. Lowering it needs two trustee signatures, which the vault checks itself.</a:t>
            </a:r>
          </a:p>
          <a:p>
            <a:pPr algn="l">
              <a:lnSpc>
                <a:spcPct val="110000"/>
              </a:lnSpc>
              <a:spcAft>
                <a:spcPts val="0"/>
              </a:spcAft>
            </a:pPr>
            <a:r>
              <a:rPr sz="1500" b="0">
                <a:solidFill>
                  <a:srgbClr val="1D2321"/>
                </a:solidFill>
                <a:latin typeface="Arial"/>
              </a:rPr>
              <a:t>The thresholds were fixed in redteam/protocol.md before the full run.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1094415" cy="320040"/>
          </a:xfrm>
          <a:prstGeom prst="rect">
            <a:avLst/>
          </a:prstGeom>
          <a:noFill/>
        </p:spPr>
        <p:txBody>
          <a:bodyPr wrap="square" anchor="t" lIns="18288" rIns="18288" tIns="18288" bIns="18288">
            <a:spAutoFit/>
          </a:bodyPr>
          <a:lstStyle/>
          <a:p>
            <a:pPr algn="l">
              <a:lnSpc>
                <a:spcPct val="110000"/>
              </a:lnSpc>
              <a:spcAft>
                <a:spcPts val="0"/>
              </a:spcAft>
            </a:pPr>
            <a:r>
              <a:rPr sz="1200" b="1">
                <a:solidFill>
                  <a:srgbClr val="0B5D3B"/>
                </a:solidFill>
                <a:latin typeface="Arial"/>
              </a:rPr>
              <a:t>7 · SECURITY: THE FOUR ATTACKS IN THE RUBRIC</a:t>
            </a:r>
          </a:p>
        </p:txBody>
      </p:sp>
      <p:sp>
        <p:nvSpPr>
          <p:cNvPr id="3" name="TextBox 2"/>
          <p:cNvSpPr txBox="1"/>
          <p:nvPr/>
        </p:nvSpPr>
        <p:spPr>
          <a:xfrm>
            <a:off x="548640" y="658368"/>
            <a:ext cx="11094415" cy="1097280"/>
          </a:xfrm>
          <a:prstGeom prst="rect">
            <a:avLst/>
          </a:prstGeom>
          <a:noFill/>
        </p:spPr>
        <p:txBody>
          <a:bodyPr wrap="square" anchor="t" lIns="18288" rIns="18288" tIns="18288" bIns="18288">
            <a:spAutoFit/>
          </a:bodyPr>
          <a:lstStyle/>
          <a:p>
            <a:pPr algn="l">
              <a:lnSpc>
                <a:spcPct val="100000"/>
              </a:lnSpc>
              <a:spcAft>
                <a:spcPts val="0"/>
              </a:spcAft>
            </a:pPr>
            <a:r>
              <a:rPr sz="2800" b="1">
                <a:solidFill>
                  <a:srgbClr val="1D2321"/>
                </a:solidFill>
                <a:latin typeface="Arial"/>
              </a:rPr>
              <a:t>Each attack in the rubric meets at least three layers, and the last layer is code</a:t>
            </a:r>
          </a:p>
        </p:txBody>
      </p:sp>
      <p:sp>
        <p:nvSpPr>
          <p:cNvPr id="4" name="Rectangle 3"/>
          <p:cNvSpPr/>
          <p:nvPr/>
        </p:nvSpPr>
        <p:spPr>
          <a:xfrm>
            <a:off x="548640" y="6291072"/>
            <a:ext cx="11094415" cy="9525"/>
          </a:xfrm>
          <a:prstGeom prst="rect">
            <a:avLst/>
          </a:prstGeom>
          <a:solidFill>
            <a:srgbClr val="C9D6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355080"/>
            <a:ext cx="9631375" cy="365760"/>
          </a:xfrm>
          <a:prstGeom prst="rect">
            <a:avLst/>
          </a:prstGeom>
          <a:noFill/>
        </p:spPr>
        <p:txBody>
          <a:bodyPr wrap="square" anchor="t" lIns="18288" rIns="18288" tIns="18288" bIns="18288">
            <a:spAutoFit/>
          </a:bodyPr>
          <a:lstStyle/>
          <a:p>
            <a:pPr algn="l">
              <a:lnSpc>
                <a:spcPct val="110000"/>
              </a:lnSpc>
              <a:spcAft>
                <a:spcPts val="0"/>
              </a:spcAft>
            </a:pPr>
            <a:r>
              <a:rPr sz="1000" b="0">
                <a:solidFill>
                  <a:srgbClr val="5B6661"/>
                </a:solidFill>
                <a:latin typeface="Arial"/>
              </a:rPr>
              <a:t>Source: docs/security-self-assessment.md, section 3; scenarios 8 [[fill: scenario 8 tx]], 9 [[fill: scenario 9 tx]], 10 [[fill: scenario 10 tx]] and 12 [[fill: scenario 12 tx]]</a:t>
            </a:r>
          </a:p>
        </p:txBody>
      </p:sp>
      <p:sp>
        <p:nvSpPr>
          <p:cNvPr id="6" name="TextBox 5"/>
          <p:cNvSpPr txBox="1"/>
          <p:nvPr/>
        </p:nvSpPr>
        <p:spPr>
          <a:xfrm>
            <a:off x="10362895" y="6355080"/>
            <a:ext cx="1280160" cy="365760"/>
          </a:xfrm>
          <a:prstGeom prst="rect">
            <a:avLst/>
          </a:prstGeom>
          <a:noFill/>
        </p:spPr>
        <p:txBody>
          <a:bodyPr wrap="square" anchor="t" lIns="18288" rIns="18288" tIns="18288" bIns="18288">
            <a:spAutoFit/>
          </a:bodyPr>
          <a:lstStyle/>
          <a:p>
            <a:pPr algn="r">
              <a:lnSpc>
                <a:spcPct val="110000"/>
              </a:lnSpc>
              <a:spcAft>
                <a:spcPts val="0"/>
              </a:spcAft>
            </a:pPr>
            <a:r>
              <a:rPr sz="1000" b="0">
                <a:solidFill>
                  <a:srgbClr val="5B6661"/>
                </a:solidFill>
                <a:latin typeface="Arial"/>
              </a:rPr>
              <a:t>Amanah  8 / 11</a:t>
            </a:r>
          </a:p>
        </p:txBody>
      </p:sp>
      <p:graphicFrame>
        <p:nvGraphicFramePr>
          <p:cNvPr id="7" name="Table 6"/>
          <p:cNvGraphicFramePr>
            <a:graphicFrameLocks noGrp="1"/>
          </p:cNvGraphicFramePr>
          <p:nvPr/>
        </p:nvGraphicFramePr>
        <p:xfrm>
          <a:off x="548640" y="1874519"/>
          <a:ext cx="11094414" cy="3886200"/>
        </p:xfrm>
        <a:graphic>
          <a:graphicData uri="http://schemas.openxmlformats.org/drawingml/2006/table">
            <a:tbl>
              <a:tblPr firstRow="1" bandRow="1">
                <a:tableStyleId>{5C22544A-7EE6-4342-B048-85BDC9FD1C3A}</a:tableStyleId>
              </a:tblPr>
              <a:tblGrid>
                <a:gridCol w="1996994"/>
                <a:gridCol w="6656649"/>
                <a:gridCol w="2440771"/>
              </a:tblGrid>
              <a:tr h="777240">
                <a:tc>
                  <a:txBody>
                    <a:bodyPr wrap="square"/>
                    <a:lstStyle/>
                    <a:p>
                      <a:r>
                        <a:rPr sz="1300" b="1">
                          <a:solidFill>
                            <a:srgbClr val="FFFFFF"/>
                          </a:solidFill>
                          <a:latin typeface="Arial"/>
                        </a:rPr>
                        <a:t>Attack</a:t>
                      </a:r>
                    </a:p>
                  </a:txBody>
                  <a:tcPr marL="91440" marR="91440" marT="45720" marB="45720" anchor="ctr">
                    <a:solidFill>
                      <a:srgbClr val="0B5D3B"/>
                    </a:solidFill>
                  </a:tcPr>
                </a:tc>
                <a:tc>
                  <a:txBody>
                    <a:bodyPr wrap="square"/>
                    <a:lstStyle/>
                    <a:p>
                      <a:r>
                        <a:rPr sz="1300" b="1">
                          <a:solidFill>
                            <a:srgbClr val="FFFFFF"/>
                          </a:solidFill>
                          <a:latin typeface="Arial"/>
                        </a:rPr>
                        <a:t>The layers it meets</a:t>
                      </a:r>
                    </a:p>
                  </a:txBody>
                  <a:tcPr marL="91440" marR="91440" marT="45720" marB="45720" anchor="ctr">
                    <a:solidFill>
                      <a:srgbClr val="0B5D3B"/>
                    </a:solidFill>
                  </a:tcPr>
                </a:tc>
                <a:tc>
                  <a:txBody>
                    <a:bodyPr wrap="square"/>
                    <a:lstStyle/>
                    <a:p>
                      <a:r>
                        <a:rPr sz="1300" b="1">
                          <a:solidFill>
                            <a:srgbClr val="FFFFFF"/>
                          </a:solidFill>
                          <a:latin typeface="Arial"/>
                        </a:rPr>
                        <a:t>Shown by</a:t>
                      </a:r>
                    </a:p>
                  </a:txBody>
                  <a:tcPr marL="91440" marR="91440" marT="45720" marB="45720" anchor="ctr">
                    <a:solidFill>
                      <a:srgbClr val="0B5D3B"/>
                    </a:solidFill>
                  </a:tcPr>
                </a:tc>
              </a:tr>
              <a:tr h="777240">
                <a:tc>
                  <a:txBody>
                    <a:bodyPr wrap="square"/>
                    <a:lstStyle/>
                    <a:p>
                      <a:r>
                        <a:rPr sz="1400" b="1">
                          <a:solidFill>
                            <a:srgbClr val="1D2321"/>
                          </a:solidFill>
                          <a:latin typeface="Arial"/>
                        </a:rPr>
                        <a:t>Induced transfer</a:t>
                      </a:r>
                    </a:p>
                  </a:txBody>
                  <a:tcPr marL="91440" marR="91440" marT="45720" marB="45720" anchor="ctr">
                    <a:solidFill>
                      <a:srgbClr val="FFFFFF"/>
                    </a:solidFill>
                  </a:tcPr>
                </a:tc>
                <a:tc>
                  <a:txBody>
                    <a:bodyPr wrap="square"/>
                    <a:lstStyle/>
                    <a:p>
                      <a:r>
                        <a:rPr sz="1400" b="0">
                          <a:solidFill>
                            <a:srgbClr val="1D2321"/>
                          </a:solidFill>
                          <a:latin typeface="Arial"/>
                        </a:rPr>
                        <a:t>the auditor finds no such beneficiary; the sentinel sees an unknown wallet; the vault reverts any wallet off the allowlist</a:t>
                      </a:r>
                    </a:p>
                  </a:txBody>
                  <a:tcPr marL="91440" marR="91440" marT="45720" marB="45720" anchor="ctr">
                    <a:solidFill>
                      <a:srgbClr val="FFFFFF"/>
                    </a:solidFill>
                  </a:tcPr>
                </a:tc>
                <a:tc>
                  <a:txBody>
                    <a:bodyPr wrap="square"/>
                    <a:lstStyle/>
                    <a:p>
                      <a:r>
                        <a:rPr sz="1400" b="0">
                          <a:solidFill>
                            <a:srgbClr val="1D2321"/>
                          </a:solidFill>
                          <a:latin typeface="Arial"/>
                        </a:rPr>
                        <a:t>scenarios 8 and 10</a:t>
                      </a:r>
                    </a:p>
                  </a:txBody>
                  <a:tcPr marL="91440" marR="91440" marT="45720" marB="45720" anchor="ctr">
                    <a:solidFill>
                      <a:srgbClr val="FFFFFF"/>
                    </a:solidFill>
                  </a:tcPr>
                </a:tc>
              </a:tr>
              <a:tr h="777240">
                <a:tc>
                  <a:txBody>
                    <a:bodyPr wrap="square"/>
                    <a:lstStyle/>
                    <a:p>
                      <a:r>
                        <a:rPr sz="1400" b="1">
                          <a:solidFill>
                            <a:srgbClr val="1D2321"/>
                          </a:solidFill>
                          <a:latin typeface="Arial"/>
                        </a:rPr>
                        <a:t>Prompt injection</a:t>
                      </a:r>
                    </a:p>
                  </a:txBody>
                  <a:tcPr marL="91440" marR="91440" marT="45720" marB="45720" anchor="ctr">
                    <a:solidFill>
                      <a:srgbClr val="ECF3EF"/>
                    </a:solidFill>
                  </a:tcPr>
                </a:tc>
                <a:tc>
                  <a:txBody>
                    <a:bodyPr wrap="square"/>
                    <a:lstStyle/>
                    <a:p>
                      <a:r>
                        <a:rPr sz="1400" b="0">
                          <a:solidFill>
                            <a:srgbClr val="1D2321"/>
                          </a:solidFill>
                          <a:latin typeface="Arial"/>
                        </a:rPr>
                        <a:t>a quarantined reader returns typed fields only; the amount comes from the books; the sentinel's frequency and structuring rules refuse</a:t>
                      </a:r>
                    </a:p>
                  </a:txBody>
                  <a:tcPr marL="91440" marR="91440" marT="45720" marB="45720" anchor="ctr">
                    <a:solidFill>
                      <a:srgbClr val="ECF3EF"/>
                    </a:solidFill>
                  </a:tcPr>
                </a:tc>
                <a:tc>
                  <a:txBody>
                    <a:bodyPr wrap="square"/>
                    <a:lstStyle/>
                    <a:p>
                      <a:r>
                        <a:rPr sz="1400" b="0">
                          <a:solidFill>
                            <a:srgbClr val="1D2321"/>
                          </a:solidFill>
                          <a:latin typeface="Arial"/>
                        </a:rPr>
                        <a:t>scenario 9</a:t>
                      </a:r>
                    </a:p>
                  </a:txBody>
                  <a:tcPr marL="91440" marR="91440" marT="45720" marB="45720" anchor="ctr">
                    <a:solidFill>
                      <a:srgbClr val="ECF3EF"/>
                    </a:solidFill>
                  </a:tcPr>
                </a:tc>
              </a:tr>
              <a:tr h="777240">
                <a:tc>
                  <a:txBody>
                    <a:bodyPr wrap="square"/>
                    <a:lstStyle/>
                    <a:p>
                      <a:r>
                        <a:rPr sz="1400" b="1">
                          <a:solidFill>
                            <a:srgbClr val="1D2321"/>
                          </a:solidFill>
                          <a:latin typeface="Arial"/>
                        </a:rPr>
                        <a:t>Data extraction</a:t>
                      </a:r>
                    </a:p>
                  </a:txBody>
                  <a:tcPr marL="91440" marR="91440" marT="45720" marB="45720" anchor="ctr">
                    <a:solidFill>
                      <a:srgbClr val="FFFFFF"/>
                    </a:solidFill>
                  </a:tcPr>
                </a:tc>
                <a:tc>
                  <a:txBody>
                    <a:bodyPr wrap="square"/>
                    <a:lstStyle/>
                    <a:p>
                      <a:r>
                        <a:rPr sz="1400" b="0">
                          <a:solidFill>
                            <a:srgbClr val="1D2321"/>
                          </a:solidFill>
                          <a:latin typeface="Arial"/>
                        </a:rPr>
                        <a:t>no personal data in any model's view; on-chain, a beneficiary is a wallet and a keyed hash</a:t>
                      </a:r>
                    </a:p>
                  </a:txBody>
                  <a:tcPr marL="91440" marR="91440" marT="45720" marB="45720" anchor="ctr">
                    <a:solidFill>
                      <a:srgbClr val="FFFFFF"/>
                    </a:solidFill>
                  </a:tcPr>
                </a:tc>
                <a:tc>
                  <a:txBody>
                    <a:bodyPr wrap="square"/>
                    <a:lstStyle/>
                    <a:p>
                      <a:r>
                        <a:rPr sz="1400" b="0">
                          <a:solidFill>
                            <a:srgbClr val="1D2321"/>
                          </a:solidFill>
                          <a:latin typeface="Arial"/>
                        </a:rPr>
                        <a:t>the red team's extraction cases</a:t>
                      </a:r>
                    </a:p>
                  </a:txBody>
                  <a:tcPr marL="91440" marR="91440" marT="45720" marB="45720" anchor="ctr">
                    <a:solidFill>
                      <a:srgbClr val="FFFFFF"/>
                    </a:solidFill>
                  </a:tcPr>
                </a:tc>
              </a:tr>
              <a:tr h="777240">
                <a:tc>
                  <a:txBody>
                    <a:bodyPr wrap="square"/>
                    <a:lstStyle/>
                    <a:p>
                      <a:r>
                        <a:rPr sz="1400" b="1">
                          <a:solidFill>
                            <a:srgbClr val="1D2321"/>
                          </a:solidFill>
                          <a:latin typeface="Arial"/>
                        </a:rPr>
                        <a:t>Privilege escalation</a:t>
                      </a:r>
                    </a:p>
                  </a:txBody>
                  <a:tcPr marL="91440" marR="91440" marT="45720" marB="45720" anchor="ctr">
                    <a:solidFill>
                      <a:srgbClr val="ECF3EF"/>
                    </a:solidFill>
                  </a:tcPr>
                </a:tc>
                <a:tc>
                  <a:txBody>
                    <a:bodyPr wrap="square"/>
                    <a:lstStyle/>
                    <a:p>
                      <a:r>
                        <a:rPr sz="1400" b="0">
                          <a:solidFill>
                            <a:srgbClr val="1D2321"/>
                          </a:solidFill>
                          <a:latin typeface="Arial"/>
                        </a:rPr>
                        <a:t>no agent key holds a trustee role; every registry, mandate and allowlist change needs two trustee signatures</a:t>
                      </a:r>
                    </a:p>
                  </a:txBody>
                  <a:tcPr marL="91440" marR="91440" marT="45720" marB="45720" anchor="ctr">
                    <a:solidFill>
                      <a:srgbClr val="ECF3EF"/>
                    </a:solidFill>
                  </a:tcPr>
                </a:tc>
                <a:tc>
                  <a:txBody>
                    <a:bodyPr wrap="square"/>
                    <a:lstStyle/>
                    <a:p>
                      <a:r>
                        <a:rPr sz="1400" b="0">
                          <a:solidFill>
                            <a:srgbClr val="1D2321"/>
                          </a:solidFill>
                          <a:latin typeface="Arial"/>
                        </a:rPr>
                        <a:t>scenario 12</a:t>
                      </a:r>
                    </a:p>
                  </a:txBody>
                  <a:tcPr marL="91440" marR="91440" marT="45720" marB="45720" anchor="ctr">
                    <a:solidFill>
                      <a:srgbClr val="ECF3E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1094415" cy="320040"/>
          </a:xfrm>
          <a:prstGeom prst="rect">
            <a:avLst/>
          </a:prstGeom>
          <a:noFill/>
        </p:spPr>
        <p:txBody>
          <a:bodyPr wrap="square" anchor="t" lIns="18288" rIns="18288" tIns="18288" bIns="18288">
            <a:spAutoFit/>
          </a:bodyPr>
          <a:lstStyle/>
          <a:p>
            <a:pPr algn="l">
              <a:lnSpc>
                <a:spcPct val="110000"/>
              </a:lnSpc>
              <a:spcAft>
                <a:spcPts val="0"/>
              </a:spcAft>
            </a:pPr>
            <a:r>
              <a:rPr sz="1200" b="1">
                <a:solidFill>
                  <a:srgbClr val="0B5D3B"/>
                </a:solidFill>
                <a:latin typeface="Arial"/>
              </a:rPr>
              <a:t>8 · CONTRIBUTION 5 OF 5: MEASURED INDEPENDENCE</a:t>
            </a:r>
          </a:p>
        </p:txBody>
      </p:sp>
      <p:sp>
        <p:nvSpPr>
          <p:cNvPr id="3" name="TextBox 2"/>
          <p:cNvSpPr txBox="1"/>
          <p:nvPr/>
        </p:nvSpPr>
        <p:spPr>
          <a:xfrm>
            <a:off x="548640" y="658368"/>
            <a:ext cx="11094415" cy="1097280"/>
          </a:xfrm>
          <a:prstGeom prst="rect">
            <a:avLst/>
          </a:prstGeom>
          <a:noFill/>
        </p:spPr>
        <p:txBody>
          <a:bodyPr wrap="square" anchor="t" lIns="18288" rIns="18288" tIns="18288" bIns="18288">
            <a:spAutoFit/>
          </a:bodyPr>
          <a:lstStyle/>
          <a:p>
            <a:pPr algn="l">
              <a:lnSpc>
                <a:spcPct val="100000"/>
              </a:lnSpc>
              <a:spcAft>
                <a:spcPts val="0"/>
              </a:spcAft>
            </a:pPr>
            <a:r>
              <a:rPr sz="2800" b="1">
                <a:solidFill>
                  <a:srgbClr val="1D2321"/>
                </a:solidFill>
                <a:latin typeface="Arial"/>
              </a:rPr>
              <a:t>We measured how often the signers fail together, and we report null results as they are</a:t>
            </a:r>
          </a:p>
        </p:txBody>
      </p:sp>
      <p:sp>
        <p:nvSpPr>
          <p:cNvPr id="4" name="Rectangle 3"/>
          <p:cNvSpPr/>
          <p:nvPr/>
        </p:nvSpPr>
        <p:spPr>
          <a:xfrm>
            <a:off x="548640" y="6291072"/>
            <a:ext cx="11094415" cy="9525"/>
          </a:xfrm>
          <a:prstGeom prst="rect">
            <a:avLst/>
          </a:prstGeom>
          <a:solidFill>
            <a:srgbClr val="C9D6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355080"/>
            <a:ext cx="9631375" cy="365760"/>
          </a:xfrm>
          <a:prstGeom prst="rect">
            <a:avLst/>
          </a:prstGeom>
          <a:noFill/>
        </p:spPr>
        <p:txBody>
          <a:bodyPr wrap="square" anchor="t" lIns="18288" rIns="18288" tIns="18288" bIns="18288">
            <a:spAutoFit/>
          </a:bodyPr>
          <a:lstStyle/>
          <a:p>
            <a:pPr algn="l">
              <a:lnSpc>
                <a:spcPct val="110000"/>
              </a:lnSpc>
              <a:spcAft>
                <a:spcPts val="0"/>
              </a:spcAft>
            </a:pPr>
            <a:r>
              <a:rPr sz="1000" b="0">
                <a:solidFill>
                  <a:srgbClr val="5B6661"/>
                </a:solidFill>
                <a:latin typeface="Arial"/>
              </a:rPr>
              <a:t>Source: redteam/protocol.md, committed at [[fill: protocol commit]] before the run; redteam/results/final/report.md; [[fill: attack cases]] attacks and [[fill: legitimate cases]] legitimate payouts</a:t>
            </a:r>
          </a:p>
        </p:txBody>
      </p:sp>
      <p:sp>
        <p:nvSpPr>
          <p:cNvPr id="6" name="TextBox 5"/>
          <p:cNvSpPr txBox="1"/>
          <p:nvPr/>
        </p:nvSpPr>
        <p:spPr>
          <a:xfrm>
            <a:off x="10362895" y="6355080"/>
            <a:ext cx="1280160" cy="365760"/>
          </a:xfrm>
          <a:prstGeom prst="rect">
            <a:avLst/>
          </a:prstGeom>
          <a:noFill/>
        </p:spPr>
        <p:txBody>
          <a:bodyPr wrap="square" anchor="t" lIns="18288" rIns="18288" tIns="18288" bIns="18288">
            <a:spAutoFit/>
          </a:bodyPr>
          <a:lstStyle/>
          <a:p>
            <a:pPr algn="r">
              <a:lnSpc>
                <a:spcPct val="110000"/>
              </a:lnSpc>
              <a:spcAft>
                <a:spcPts val="0"/>
              </a:spcAft>
            </a:pPr>
            <a:r>
              <a:rPr sz="1000" b="0">
                <a:solidFill>
                  <a:srgbClr val="5B6661"/>
                </a:solidFill>
                <a:latin typeface="Arial"/>
              </a:rPr>
              <a:t>Amanah  9 / 11</a:t>
            </a:r>
          </a:p>
        </p:txBody>
      </p:sp>
      <p:graphicFrame>
        <p:nvGraphicFramePr>
          <p:cNvPr id="7" name="Table 6"/>
          <p:cNvGraphicFramePr>
            <a:graphicFrameLocks noGrp="1"/>
          </p:cNvGraphicFramePr>
          <p:nvPr/>
        </p:nvGraphicFramePr>
        <p:xfrm>
          <a:off x="548640" y="1874519"/>
          <a:ext cx="7863838" cy="3840480"/>
        </p:xfrm>
        <a:graphic>
          <a:graphicData uri="http://schemas.openxmlformats.org/drawingml/2006/table">
            <a:tbl>
              <a:tblPr firstRow="1" bandRow="1">
                <a:tableStyleId>{5C22544A-7EE6-4342-B048-85BDC9FD1C3A}</a:tableStyleId>
              </a:tblPr>
              <a:tblGrid>
                <a:gridCol w="629107"/>
                <a:gridCol w="2909620"/>
                <a:gridCol w="2595067"/>
                <a:gridCol w="1730044"/>
              </a:tblGrid>
              <a:tr h="640080">
                <a:tc>
                  <a:txBody>
                    <a:bodyPr wrap="square"/>
                    <a:lstStyle/>
                    <a:p>
                      <a:r>
                        <a:rPr sz="1300" b="1">
                          <a:solidFill>
                            <a:srgbClr val="FFFFFF"/>
                          </a:solidFill>
                          <a:latin typeface="Arial"/>
                        </a:rPr>
                        <a:t>Arm</a:t>
                      </a:r>
                    </a:p>
                  </a:txBody>
                  <a:tcPr marL="91440" marR="91440" marT="45720" marB="45720" anchor="ctr">
                    <a:solidFill>
                      <a:srgbClr val="0B5D3B"/>
                    </a:solidFill>
                  </a:tcPr>
                </a:tc>
                <a:tc>
                  <a:txBody>
                    <a:bodyPr wrap="square"/>
                    <a:lstStyle/>
                    <a:p>
                      <a:r>
                        <a:rPr sz="1300" b="1">
                          <a:solidFill>
                            <a:srgbClr val="FFFFFF"/>
                          </a:solidFill>
                          <a:latin typeface="Arial"/>
                        </a:rPr>
                        <a:t>What must sign before money moves</a:t>
                      </a:r>
                    </a:p>
                  </a:txBody>
                  <a:tcPr marL="91440" marR="91440" marT="45720" marB="45720" anchor="ctr">
                    <a:solidFill>
                      <a:srgbClr val="0B5D3B"/>
                    </a:solidFill>
                  </a:tcPr>
                </a:tc>
                <a:tc>
                  <a:txBody>
                    <a:bodyPr wrap="square"/>
                    <a:lstStyle/>
                    <a:p>
                      <a:r>
                        <a:rPr sz="1300" b="1">
                          <a:solidFill>
                            <a:srgbClr val="FFFFFF"/>
                          </a:solidFill>
                          <a:latin typeface="Arial"/>
                        </a:rPr>
                        <a:t>Attack success</a:t>
                      </a:r>
                    </a:p>
                  </a:txBody>
                  <a:tcPr marL="91440" marR="91440" marT="45720" marB="45720" anchor="ctr">
                    <a:solidFill>
                      <a:srgbClr val="0B5D3B"/>
                    </a:solidFill>
                  </a:tcPr>
                </a:tc>
                <a:tc>
                  <a:txBody>
                    <a:bodyPr wrap="square"/>
                    <a:lstStyle/>
                    <a:p>
                      <a:r>
                        <a:rPr sz="1300" b="1">
                          <a:solidFill>
                            <a:srgbClr val="FFFFFF"/>
                          </a:solidFill>
                          <a:latin typeface="Arial"/>
                        </a:rPr>
                        <a:t>False refusals</a:t>
                      </a:r>
                    </a:p>
                  </a:txBody>
                  <a:tcPr marL="91440" marR="91440" marT="45720" marB="45720" anchor="ctr">
                    <a:solidFill>
                      <a:srgbClr val="0B5D3B"/>
                    </a:solidFill>
                  </a:tcPr>
                </a:tc>
              </a:tr>
              <a:tr h="640080">
                <a:tc>
                  <a:txBody>
                    <a:bodyPr wrap="square"/>
                    <a:lstStyle/>
                    <a:p>
                      <a:r>
                        <a:rPr sz="1300" b="1">
                          <a:solidFill>
                            <a:srgbClr val="1D2321"/>
                          </a:solidFill>
                          <a:latin typeface="Arial"/>
                        </a:rPr>
                        <a:t>S1</a:t>
                      </a:r>
                    </a:p>
                  </a:txBody>
                  <a:tcPr marL="91440" marR="91440" marT="45720" marB="45720" anchor="ctr">
                    <a:solidFill>
                      <a:srgbClr val="FFFFFF"/>
                    </a:solidFill>
                  </a:tcPr>
                </a:tc>
                <a:tc>
                  <a:txBody>
                    <a:bodyPr wrap="square"/>
                    <a:lstStyle/>
                    <a:p>
                      <a:r>
                        <a:rPr sz="1300" b="0">
                          <a:solidFill>
                            <a:srgbClr val="1D2321"/>
                          </a:solidFill>
                          <a:latin typeface="Arial"/>
                        </a:rPr>
                        <a:t>the planner alone</a:t>
                      </a:r>
                    </a:p>
                  </a:txBody>
                  <a:tcPr marL="91440" marR="91440" marT="45720" marB="45720" anchor="ctr">
                    <a:solidFill>
                      <a:srgbClr val="FFFFFF"/>
                    </a:solidFill>
                  </a:tcPr>
                </a:tc>
                <a:tc>
                  <a:txBody>
                    <a:bodyPr wrap="square"/>
                    <a:lstStyle/>
                    <a:p>
                      <a:r>
                        <a:rPr sz="1300" b="0">
                          <a:solidFill>
                            <a:srgbClr val="1D2321"/>
                          </a:solidFill>
                          <a:latin typeface="Arial"/>
                        </a:rPr>
                        <a:t>[[fill: S1 attack success]]</a:t>
                      </a:r>
                    </a:p>
                  </a:txBody>
                  <a:tcPr marL="91440" marR="91440" marT="45720" marB="45720" anchor="ctr">
                    <a:solidFill>
                      <a:srgbClr val="FFFFFF"/>
                    </a:solidFill>
                  </a:tcPr>
                </a:tc>
                <a:tc>
                  <a:txBody>
                    <a:bodyPr wrap="square"/>
                    <a:lstStyle/>
                    <a:p>
                      <a:r>
                        <a:rPr sz="1300" b="0">
                          <a:solidFill>
                            <a:srgbClr val="1D2321"/>
                          </a:solidFill>
                          <a:latin typeface="Arial"/>
                        </a:rPr>
                        <a:t>[[fill: S1 false refusals]]</a:t>
                      </a:r>
                    </a:p>
                  </a:txBody>
                  <a:tcPr marL="91440" marR="91440" marT="45720" marB="45720" anchor="ctr">
                    <a:solidFill>
                      <a:srgbClr val="FFFFFF"/>
                    </a:solidFill>
                  </a:tcPr>
                </a:tc>
              </a:tr>
              <a:tr h="640080">
                <a:tc>
                  <a:txBody>
                    <a:bodyPr wrap="square"/>
                    <a:lstStyle/>
                    <a:p>
                      <a:r>
                        <a:rPr sz="1300" b="1">
                          <a:solidFill>
                            <a:srgbClr val="1D2321"/>
                          </a:solidFill>
                          <a:latin typeface="Arial"/>
                        </a:rPr>
                        <a:t>S2</a:t>
                      </a:r>
                    </a:p>
                  </a:txBody>
                  <a:tcPr marL="91440" marR="91440" marT="45720" marB="45720" anchor="ctr">
                    <a:solidFill>
                      <a:srgbClr val="ECF3EF"/>
                    </a:solidFill>
                  </a:tcPr>
                </a:tc>
                <a:tc>
                  <a:txBody>
                    <a:bodyPr wrap="square"/>
                    <a:lstStyle/>
                    <a:p>
                      <a:r>
                        <a:rPr sz="1300" b="0">
                          <a:solidFill>
                            <a:srgbClr val="1D2321"/>
                          </a:solidFill>
                          <a:latin typeface="Arial"/>
                        </a:rPr>
                        <a:t>the planner and a Claude auditor</a:t>
                      </a:r>
                    </a:p>
                  </a:txBody>
                  <a:tcPr marL="91440" marR="91440" marT="45720" marB="45720" anchor="ctr">
                    <a:solidFill>
                      <a:srgbClr val="ECF3EF"/>
                    </a:solidFill>
                  </a:tcPr>
                </a:tc>
                <a:tc>
                  <a:txBody>
                    <a:bodyPr wrap="square"/>
                    <a:lstStyle/>
                    <a:p>
                      <a:r>
                        <a:rPr sz="1300" b="0">
                          <a:solidFill>
                            <a:srgbClr val="1D2321"/>
                          </a:solidFill>
                          <a:latin typeface="Arial"/>
                        </a:rPr>
                        <a:t>[[fill: S2 attack success]]</a:t>
                      </a:r>
                    </a:p>
                  </a:txBody>
                  <a:tcPr marL="91440" marR="91440" marT="45720" marB="45720" anchor="ctr">
                    <a:solidFill>
                      <a:srgbClr val="ECF3EF"/>
                    </a:solidFill>
                  </a:tcPr>
                </a:tc>
                <a:tc>
                  <a:txBody>
                    <a:bodyPr wrap="square"/>
                    <a:lstStyle/>
                    <a:p>
                      <a:r>
                        <a:rPr sz="1300" b="0">
                          <a:solidFill>
                            <a:srgbClr val="1D2321"/>
                          </a:solidFill>
                          <a:latin typeface="Arial"/>
                        </a:rPr>
                        <a:t>[[fill: S2 false refusals]]</a:t>
                      </a:r>
                    </a:p>
                  </a:txBody>
                  <a:tcPr marL="91440" marR="91440" marT="45720" marB="45720" anchor="ctr">
                    <a:solidFill>
                      <a:srgbClr val="ECF3EF"/>
                    </a:solidFill>
                  </a:tcPr>
                </a:tc>
              </a:tr>
              <a:tr h="640080">
                <a:tc>
                  <a:txBody>
                    <a:bodyPr wrap="square"/>
                    <a:lstStyle/>
                    <a:p>
                      <a:r>
                        <a:rPr sz="1300" b="1">
                          <a:solidFill>
                            <a:srgbClr val="1D2321"/>
                          </a:solidFill>
                          <a:latin typeface="Arial"/>
                        </a:rPr>
                        <a:t>S3</a:t>
                      </a:r>
                    </a:p>
                  </a:txBody>
                  <a:tcPr marL="91440" marR="91440" marT="45720" marB="45720" anchor="ctr">
                    <a:solidFill>
                      <a:srgbClr val="FFFFFF"/>
                    </a:solidFill>
                  </a:tcPr>
                </a:tc>
                <a:tc>
                  <a:txBody>
                    <a:bodyPr wrap="square"/>
                    <a:lstStyle/>
                    <a:p>
                      <a:r>
                        <a:rPr sz="1300" b="0">
                          <a:solidFill>
                            <a:srgbClr val="1D2321"/>
                          </a:solidFill>
                          <a:latin typeface="Arial"/>
                        </a:rPr>
                        <a:t>the planner and the Qwen auditor</a:t>
                      </a:r>
                    </a:p>
                  </a:txBody>
                  <a:tcPr marL="91440" marR="91440" marT="45720" marB="45720" anchor="ctr">
                    <a:solidFill>
                      <a:srgbClr val="FFFFFF"/>
                    </a:solidFill>
                  </a:tcPr>
                </a:tc>
                <a:tc>
                  <a:txBody>
                    <a:bodyPr wrap="square"/>
                    <a:lstStyle/>
                    <a:p>
                      <a:r>
                        <a:rPr sz="1300" b="0">
                          <a:solidFill>
                            <a:srgbClr val="1D2321"/>
                          </a:solidFill>
                          <a:latin typeface="Arial"/>
                        </a:rPr>
                        <a:t>[[fill: S3 attack success]]</a:t>
                      </a:r>
                    </a:p>
                  </a:txBody>
                  <a:tcPr marL="91440" marR="91440" marT="45720" marB="45720" anchor="ctr">
                    <a:solidFill>
                      <a:srgbClr val="FFFFFF"/>
                    </a:solidFill>
                  </a:tcPr>
                </a:tc>
                <a:tc>
                  <a:txBody>
                    <a:bodyPr wrap="square"/>
                    <a:lstStyle/>
                    <a:p>
                      <a:r>
                        <a:rPr sz="1300" b="0">
                          <a:solidFill>
                            <a:srgbClr val="1D2321"/>
                          </a:solidFill>
                          <a:latin typeface="Arial"/>
                        </a:rPr>
                        <a:t>[[fill: S3 false refusals]]</a:t>
                      </a:r>
                    </a:p>
                  </a:txBody>
                  <a:tcPr marL="91440" marR="91440" marT="45720" marB="45720" anchor="ctr">
                    <a:solidFill>
                      <a:srgbClr val="FFFFFF"/>
                    </a:solidFill>
                  </a:tcPr>
                </a:tc>
              </a:tr>
              <a:tr h="640080">
                <a:tc>
                  <a:txBody>
                    <a:bodyPr wrap="square"/>
                    <a:lstStyle/>
                    <a:p>
                      <a:r>
                        <a:rPr sz="1300" b="1">
                          <a:solidFill>
                            <a:srgbClr val="1D2321"/>
                          </a:solidFill>
                          <a:latin typeface="Arial"/>
                        </a:rPr>
                        <a:t>S4</a:t>
                      </a:r>
                    </a:p>
                  </a:txBody>
                  <a:tcPr marL="91440" marR="91440" marT="45720" marB="45720" anchor="ctr">
                    <a:solidFill>
                      <a:srgbClr val="ECF3EF"/>
                    </a:solidFill>
                  </a:tcPr>
                </a:tc>
                <a:tc>
                  <a:txBody>
                    <a:bodyPr wrap="square"/>
                    <a:lstStyle/>
                    <a:p>
                      <a:r>
                        <a:rPr sz="1300" b="0">
                          <a:solidFill>
                            <a:srgbClr val="1D2321"/>
                          </a:solidFill>
                          <a:latin typeface="Arial"/>
                        </a:rPr>
                        <a:t>S3 and the sentinel</a:t>
                      </a:r>
                    </a:p>
                  </a:txBody>
                  <a:tcPr marL="91440" marR="91440" marT="45720" marB="45720" anchor="ctr">
                    <a:solidFill>
                      <a:srgbClr val="ECF3EF"/>
                    </a:solidFill>
                  </a:tcPr>
                </a:tc>
                <a:tc>
                  <a:txBody>
                    <a:bodyPr wrap="square"/>
                    <a:lstStyle/>
                    <a:p>
                      <a:r>
                        <a:rPr sz="1300" b="0">
                          <a:solidFill>
                            <a:srgbClr val="1D2321"/>
                          </a:solidFill>
                          <a:latin typeface="Arial"/>
                        </a:rPr>
                        <a:t>[[fill: S4 attack success]]</a:t>
                      </a:r>
                    </a:p>
                  </a:txBody>
                  <a:tcPr marL="91440" marR="91440" marT="45720" marB="45720" anchor="ctr">
                    <a:solidFill>
                      <a:srgbClr val="ECF3EF"/>
                    </a:solidFill>
                  </a:tcPr>
                </a:tc>
                <a:tc>
                  <a:txBody>
                    <a:bodyPr wrap="square"/>
                    <a:lstStyle/>
                    <a:p>
                      <a:r>
                        <a:rPr sz="1300" b="0">
                          <a:solidFill>
                            <a:srgbClr val="1D2321"/>
                          </a:solidFill>
                          <a:latin typeface="Arial"/>
                        </a:rPr>
                        <a:t>[[fill: S4 false refusals]]</a:t>
                      </a:r>
                    </a:p>
                  </a:txBody>
                  <a:tcPr marL="91440" marR="91440" marT="45720" marB="45720" anchor="ctr">
                    <a:solidFill>
                      <a:srgbClr val="ECF3EF"/>
                    </a:solidFill>
                  </a:tcPr>
                </a:tc>
              </a:tr>
              <a:tr h="640080">
                <a:tc>
                  <a:txBody>
                    <a:bodyPr wrap="square"/>
                    <a:lstStyle/>
                    <a:p>
                      <a:r>
                        <a:rPr sz="1300" b="1">
                          <a:solidFill>
                            <a:srgbClr val="1D2321"/>
                          </a:solidFill>
                          <a:latin typeface="Arial"/>
                        </a:rPr>
                        <a:t>S5</a:t>
                      </a:r>
                    </a:p>
                  </a:txBody>
                  <a:tcPr marL="91440" marR="91440" marT="45720" marB="45720" anchor="ctr">
                    <a:solidFill>
                      <a:srgbClr val="FFFFFF"/>
                    </a:solidFill>
                  </a:tcPr>
                </a:tc>
                <a:tc>
                  <a:txBody>
                    <a:bodyPr wrap="square"/>
                    <a:lstStyle/>
                    <a:p>
                      <a:r>
                        <a:rPr sz="1300" b="0">
                          <a:solidFill>
                            <a:srgbClr val="1D2321"/>
                          </a:solidFill>
                          <a:latin typeface="Arial"/>
                        </a:rPr>
                        <a:t>S4 and the vault, on Anvil</a:t>
                      </a:r>
                    </a:p>
                  </a:txBody>
                  <a:tcPr marL="91440" marR="91440" marT="45720" marB="45720" anchor="ctr">
                    <a:solidFill>
                      <a:srgbClr val="FFFFFF"/>
                    </a:solidFill>
                  </a:tcPr>
                </a:tc>
                <a:tc>
                  <a:txBody>
                    <a:bodyPr wrap="square"/>
                    <a:lstStyle/>
                    <a:p>
                      <a:r>
                        <a:rPr sz="1300" b="0">
                          <a:solidFill>
                            <a:srgbClr val="1D2321"/>
                          </a:solidFill>
                          <a:latin typeface="Arial"/>
                        </a:rPr>
                        <a:t>[[fill: S5 attack success]]</a:t>
                      </a:r>
                    </a:p>
                  </a:txBody>
                  <a:tcPr marL="91440" marR="91440" marT="45720" marB="45720" anchor="ctr">
                    <a:solidFill>
                      <a:srgbClr val="FFFFFF"/>
                    </a:solidFill>
                  </a:tcPr>
                </a:tc>
                <a:tc>
                  <a:txBody>
                    <a:bodyPr wrap="square"/>
                    <a:lstStyle/>
                    <a:p>
                      <a:r>
                        <a:rPr sz="1300" b="0">
                          <a:solidFill>
                            <a:srgbClr val="1D2321"/>
                          </a:solidFill>
                          <a:latin typeface="Arial"/>
                        </a:rPr>
                        <a:t>[[fill: S5 false refusals]]</a:t>
                      </a:r>
                    </a:p>
                  </a:txBody>
                  <a:tcPr marL="91440" marR="91440" marT="45720" marB="45720" anchor="ctr">
                    <a:solidFill>
                      <a:srgbClr val="FFFFFF"/>
                    </a:solidFill>
                  </a:tcPr>
                </a:tc>
              </a:tr>
            </a:tbl>
          </a:graphicData>
        </a:graphic>
      </p:graphicFrame>
      <p:sp>
        <p:nvSpPr>
          <p:cNvPr id="8" name="Rounded Rectangle 7"/>
          <p:cNvSpPr/>
          <p:nvPr/>
        </p:nvSpPr>
        <p:spPr>
          <a:xfrm>
            <a:off x="8732519" y="1874519"/>
            <a:ext cx="2880360" cy="3840480"/>
          </a:xfrm>
          <a:prstGeom prst="roundRect">
            <a:avLst>
              <a:gd name="adj" fmla="val 8000"/>
            </a:avLst>
          </a:prstGeom>
          <a:solidFill>
            <a:srgbClr val="EC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897111" y="1965959"/>
            <a:ext cx="2551176" cy="3657600"/>
          </a:xfrm>
          <a:prstGeom prst="rect">
            <a:avLst/>
          </a:prstGeom>
          <a:noFill/>
        </p:spPr>
        <p:txBody>
          <a:bodyPr wrap="square" anchor="t" lIns="18288" rIns="18288" tIns="18288" bIns="18288">
            <a:spAutoFit/>
          </a:bodyPr>
          <a:lstStyle/>
          <a:p>
            <a:pPr algn="l">
              <a:lnSpc>
                <a:spcPct val="110000"/>
              </a:lnSpc>
              <a:spcAft>
                <a:spcPts val="700"/>
              </a:spcAft>
            </a:pPr>
            <a:r>
              <a:rPr sz="1600" b="1">
                <a:solidFill>
                  <a:srgbClr val="0B5D3B"/>
                </a:solidFill>
                <a:latin typeface="Arial"/>
              </a:rPr>
              <a:t>Joint failure</a:t>
            </a:r>
          </a:p>
          <a:p>
            <a:pPr algn="l">
              <a:lnSpc>
                <a:spcPct val="110000"/>
              </a:lnSpc>
              <a:spcAft>
                <a:spcPts val="700"/>
              </a:spcAft>
            </a:pPr>
            <a:r>
              <a:rPr sz="1400" b="0">
                <a:solidFill>
                  <a:srgbClr val="1D2321"/>
                </a:solidFill>
                <a:latin typeface="Arial"/>
              </a:rPr>
              <a:t>The planner and the Qwen auditor were fooled together on [[fill: joint failure, planner and Qwen auditor]] of transfer attacks.</a:t>
            </a:r>
          </a:p>
          <a:p>
            <a:pPr algn="l">
              <a:lnSpc>
                <a:spcPct val="110000"/>
              </a:lnSpc>
              <a:spcAft>
                <a:spcPts val="0"/>
              </a:spcAft>
            </a:pPr>
            <a:r>
              <a:rPr sz="1400" b="0">
                <a:solidFill>
                  <a:srgbClr val="1D2321"/>
                </a:solidFill>
                <a:latin typeface="Arial"/>
              </a:rPr>
              <a:t>Above 10% raises the posture, by the protocol.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1094415" cy="320040"/>
          </a:xfrm>
          <a:prstGeom prst="rect">
            <a:avLst/>
          </a:prstGeom>
          <a:noFill/>
        </p:spPr>
        <p:txBody>
          <a:bodyPr wrap="square" anchor="t" lIns="18288" rIns="18288" tIns="18288" bIns="18288">
            <a:spAutoFit/>
          </a:bodyPr>
          <a:lstStyle/>
          <a:p>
            <a:pPr algn="l">
              <a:lnSpc>
                <a:spcPct val="110000"/>
              </a:lnSpc>
              <a:spcAft>
                <a:spcPts val="0"/>
              </a:spcAft>
            </a:pPr>
            <a:r>
              <a:rPr sz="1200" b="1">
                <a:solidFill>
                  <a:srgbClr val="0B5D3B"/>
                </a:solidFill>
                <a:latin typeface="Arial"/>
              </a:rPr>
              <a:t>9 · TASK COMPLETION ON BASE SEPOLIA</a:t>
            </a:r>
          </a:p>
        </p:txBody>
      </p:sp>
      <p:sp>
        <p:nvSpPr>
          <p:cNvPr id="3" name="TextBox 2"/>
          <p:cNvSpPr txBox="1"/>
          <p:nvPr/>
        </p:nvSpPr>
        <p:spPr>
          <a:xfrm>
            <a:off x="548640" y="658368"/>
            <a:ext cx="11094415" cy="1097280"/>
          </a:xfrm>
          <a:prstGeom prst="rect">
            <a:avLst/>
          </a:prstGeom>
          <a:noFill/>
        </p:spPr>
        <p:txBody>
          <a:bodyPr wrap="square" anchor="t" lIns="18288" rIns="18288" tIns="18288" bIns="18288">
            <a:spAutoFit/>
          </a:bodyPr>
          <a:lstStyle/>
          <a:p>
            <a:pPr algn="l">
              <a:lnSpc>
                <a:spcPct val="100000"/>
              </a:lnSpc>
              <a:spcAft>
                <a:spcPts val="0"/>
              </a:spcAft>
            </a:pPr>
            <a:r>
              <a:rPr sz="2800" b="1">
                <a:solidFill>
                  <a:srgbClr val="1D2321"/>
                </a:solidFill>
                <a:latin typeface="Arial"/>
              </a:rPr>
              <a:t>All 16 scripted scenarios ran on Base Sepolia, and any executed payout re-checks from the chain alone</a:t>
            </a:r>
          </a:p>
        </p:txBody>
      </p:sp>
      <p:sp>
        <p:nvSpPr>
          <p:cNvPr id="4" name="Rectangle 3"/>
          <p:cNvSpPr/>
          <p:nvPr/>
        </p:nvSpPr>
        <p:spPr>
          <a:xfrm>
            <a:off x="548640" y="6291072"/>
            <a:ext cx="11094415" cy="9525"/>
          </a:xfrm>
          <a:prstGeom prst="rect">
            <a:avLst/>
          </a:prstGeom>
          <a:solidFill>
            <a:srgbClr val="C9D6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355080"/>
            <a:ext cx="9631375" cy="365760"/>
          </a:xfrm>
          <a:prstGeom prst="rect">
            <a:avLst/>
          </a:prstGeom>
          <a:noFill/>
        </p:spPr>
        <p:txBody>
          <a:bodyPr wrap="square" anchor="t" lIns="18288" rIns="18288" tIns="18288" bIns="18288">
            <a:spAutoFit/>
          </a:bodyPr>
          <a:lstStyle/>
          <a:p>
            <a:pPr algn="l">
              <a:lnSpc>
                <a:spcPct val="110000"/>
              </a:lnSpc>
              <a:spcAft>
                <a:spcPts val="0"/>
              </a:spcAft>
            </a:pPr>
            <a:r>
              <a:rPr sz="1000" b="0">
                <a:solidFill>
                  <a:srgbClr val="5B6661"/>
                </a:solidFill>
                <a:latin typeface="Arial"/>
              </a:rPr>
              <a:t>Source: evidence/transactions.csv, evidence/demo-summary.json; python scripts/verify.py --csv evidence/transactions.csv</a:t>
            </a:r>
          </a:p>
        </p:txBody>
      </p:sp>
      <p:sp>
        <p:nvSpPr>
          <p:cNvPr id="6" name="TextBox 5"/>
          <p:cNvSpPr txBox="1"/>
          <p:nvPr/>
        </p:nvSpPr>
        <p:spPr>
          <a:xfrm>
            <a:off x="10362895" y="6355080"/>
            <a:ext cx="1280160" cy="365760"/>
          </a:xfrm>
          <a:prstGeom prst="rect">
            <a:avLst/>
          </a:prstGeom>
          <a:noFill/>
        </p:spPr>
        <p:txBody>
          <a:bodyPr wrap="square" anchor="t" lIns="18288" rIns="18288" tIns="18288" bIns="18288">
            <a:spAutoFit/>
          </a:bodyPr>
          <a:lstStyle/>
          <a:p>
            <a:pPr algn="r">
              <a:lnSpc>
                <a:spcPct val="110000"/>
              </a:lnSpc>
              <a:spcAft>
                <a:spcPts val="0"/>
              </a:spcAft>
            </a:pPr>
            <a:r>
              <a:rPr sz="1000" b="0">
                <a:solidFill>
                  <a:srgbClr val="5B6661"/>
                </a:solidFill>
                <a:latin typeface="Arial"/>
              </a:rPr>
              <a:t>Amanah  10 / 11</a:t>
            </a:r>
          </a:p>
        </p:txBody>
      </p:sp>
      <p:sp>
        <p:nvSpPr>
          <p:cNvPr id="7" name="Rounded Rectangle 6"/>
          <p:cNvSpPr/>
          <p:nvPr/>
        </p:nvSpPr>
        <p:spPr>
          <a:xfrm>
            <a:off x="548640" y="1874519"/>
            <a:ext cx="1737360" cy="841248"/>
          </a:xfrm>
          <a:prstGeom prst="roundRect">
            <a:avLst>
              <a:gd name="adj" fmla="val 8000"/>
            </a:avLst>
          </a:prstGeom>
          <a:solidFill>
            <a:srgbClr val="EC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13232" y="1965959"/>
            <a:ext cx="1408176" cy="658368"/>
          </a:xfrm>
          <a:prstGeom prst="rect">
            <a:avLst/>
          </a:prstGeom>
          <a:noFill/>
        </p:spPr>
        <p:txBody>
          <a:bodyPr wrap="square" anchor="ctr" lIns="18288" rIns="18288" tIns="18288" bIns="18288">
            <a:spAutoFit/>
          </a:bodyPr>
          <a:lstStyle/>
          <a:p>
            <a:pPr algn="l">
              <a:lnSpc>
                <a:spcPct val="110000"/>
              </a:lnSpc>
              <a:spcAft>
                <a:spcPts val="700"/>
              </a:spcAft>
            </a:pPr>
            <a:r>
              <a:rPr sz="1200" b="1">
                <a:solidFill>
                  <a:srgbClr val="1D2321"/>
                </a:solidFill>
                <a:latin typeface="Arial"/>
              </a:rPr>
              <a:t>1  Deploy the vault</a:t>
            </a:r>
          </a:p>
          <a:p>
            <a:pPr algn="l">
              <a:lnSpc>
                <a:spcPct val="110000"/>
              </a:lnSpc>
              <a:spcAft>
                <a:spcPts val="0"/>
              </a:spcAft>
            </a:pPr>
            <a:r>
              <a:rPr sz="1100" b="0">
                <a:solidFill>
                  <a:srgbClr val="5B6661"/>
                </a:solidFill>
                <a:latin typeface="Arial"/>
              </a:rPr>
              <a:t>deployed · [[fill: run]]</a:t>
            </a:r>
          </a:p>
        </p:txBody>
      </p:sp>
      <p:sp>
        <p:nvSpPr>
          <p:cNvPr id="9" name="Rounded Rectangle 8"/>
          <p:cNvSpPr/>
          <p:nvPr/>
        </p:nvSpPr>
        <p:spPr>
          <a:xfrm>
            <a:off x="2395728" y="1874519"/>
            <a:ext cx="1737360" cy="841248"/>
          </a:xfrm>
          <a:prstGeom prst="roundRect">
            <a:avLst>
              <a:gd name="adj" fmla="val 8000"/>
            </a:avLst>
          </a:prstGeom>
          <a:solidFill>
            <a:srgbClr val="EC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2560320" y="1965959"/>
            <a:ext cx="1408176" cy="658368"/>
          </a:xfrm>
          <a:prstGeom prst="rect">
            <a:avLst/>
          </a:prstGeom>
          <a:noFill/>
        </p:spPr>
        <p:txBody>
          <a:bodyPr wrap="square" anchor="ctr" lIns="18288" rIns="18288" tIns="18288" bIns="18288">
            <a:spAutoFit/>
          </a:bodyPr>
          <a:lstStyle/>
          <a:p>
            <a:pPr algn="l">
              <a:lnSpc>
                <a:spcPct val="110000"/>
              </a:lnSpc>
              <a:spcAft>
                <a:spcPts val="700"/>
              </a:spcAft>
            </a:pPr>
            <a:r>
              <a:rPr sz="1200" b="1">
                <a:solidFill>
                  <a:srgbClr val="1D2321"/>
                </a:solidFill>
                <a:latin typeface="Arial"/>
              </a:rPr>
              <a:t>2  Register signers</a:t>
            </a:r>
          </a:p>
          <a:p>
            <a:pPr algn="l">
              <a:lnSpc>
                <a:spcPct val="110000"/>
              </a:lnSpc>
              <a:spcAft>
                <a:spcPts val="0"/>
              </a:spcAft>
            </a:pPr>
            <a:r>
              <a:rPr sz="1100" b="0">
                <a:solidFill>
                  <a:srgbClr val="5B6661"/>
                </a:solidFill>
                <a:latin typeface="Arial"/>
              </a:rPr>
              <a:t>registered · [[fill: run]]</a:t>
            </a:r>
          </a:p>
        </p:txBody>
      </p:sp>
      <p:sp>
        <p:nvSpPr>
          <p:cNvPr id="11" name="Rounded Rectangle 10"/>
          <p:cNvSpPr/>
          <p:nvPr/>
        </p:nvSpPr>
        <p:spPr>
          <a:xfrm>
            <a:off x="4242816" y="1874519"/>
            <a:ext cx="1737360" cy="841248"/>
          </a:xfrm>
          <a:prstGeom prst="roundRect">
            <a:avLst>
              <a:gd name="adj" fmla="val 8000"/>
            </a:avLst>
          </a:prstGeom>
          <a:solidFill>
            <a:srgbClr val="EC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407408" y="1965959"/>
            <a:ext cx="1408176" cy="658368"/>
          </a:xfrm>
          <a:prstGeom prst="rect">
            <a:avLst/>
          </a:prstGeom>
          <a:noFill/>
        </p:spPr>
        <p:txBody>
          <a:bodyPr wrap="square" anchor="ctr" lIns="18288" rIns="18288" tIns="18288" bIns="18288">
            <a:spAutoFit/>
          </a:bodyPr>
          <a:lstStyle/>
          <a:p>
            <a:pPr algn="l">
              <a:lnSpc>
                <a:spcPct val="110000"/>
              </a:lnSpc>
              <a:spcAft>
                <a:spcPts val="700"/>
              </a:spcAft>
            </a:pPr>
            <a:r>
              <a:rPr sz="1200" b="1">
                <a:solidFill>
                  <a:srgbClr val="1D2321"/>
                </a:solidFill>
                <a:latin typeface="Arial"/>
              </a:rPr>
              <a:t>3  Set 3 mandates</a:t>
            </a:r>
          </a:p>
          <a:p>
            <a:pPr algn="l">
              <a:lnSpc>
                <a:spcPct val="110000"/>
              </a:lnSpc>
              <a:spcAft>
                <a:spcPts val="0"/>
              </a:spcAft>
            </a:pPr>
            <a:r>
              <a:rPr sz="1100" b="0">
                <a:solidFill>
                  <a:srgbClr val="5B6661"/>
                </a:solidFill>
                <a:latin typeface="Arial"/>
              </a:rPr>
              <a:t>set · [[fill: run]]</a:t>
            </a:r>
          </a:p>
        </p:txBody>
      </p:sp>
      <p:sp>
        <p:nvSpPr>
          <p:cNvPr id="13" name="Rounded Rectangle 12"/>
          <p:cNvSpPr/>
          <p:nvPr/>
        </p:nvSpPr>
        <p:spPr>
          <a:xfrm>
            <a:off x="6089904" y="1874519"/>
            <a:ext cx="1737360" cy="841248"/>
          </a:xfrm>
          <a:prstGeom prst="roundRect">
            <a:avLst>
              <a:gd name="adj" fmla="val 8000"/>
            </a:avLst>
          </a:prstGeom>
          <a:solidFill>
            <a:srgbClr val="EC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254496" y="1965959"/>
            <a:ext cx="1408176" cy="658368"/>
          </a:xfrm>
          <a:prstGeom prst="rect">
            <a:avLst/>
          </a:prstGeom>
          <a:noFill/>
        </p:spPr>
        <p:txBody>
          <a:bodyPr wrap="square" anchor="ctr" lIns="18288" rIns="18288" tIns="18288" bIns="18288">
            <a:spAutoFit/>
          </a:bodyPr>
          <a:lstStyle/>
          <a:p>
            <a:pPr algn="l">
              <a:lnSpc>
                <a:spcPct val="110000"/>
              </a:lnSpc>
              <a:spcAft>
                <a:spcPts val="700"/>
              </a:spcAft>
            </a:pPr>
            <a:r>
              <a:rPr sz="1200" b="1">
                <a:solidFill>
                  <a:srgbClr val="1D2321"/>
                </a:solidFill>
                <a:latin typeface="Arial"/>
              </a:rPr>
              <a:t>4  Add 45 beneficiaries</a:t>
            </a:r>
          </a:p>
          <a:p>
            <a:pPr algn="l">
              <a:lnSpc>
                <a:spcPct val="110000"/>
              </a:lnSpc>
              <a:spcAft>
                <a:spcPts val="0"/>
              </a:spcAft>
            </a:pPr>
            <a:r>
              <a:rPr sz="1100" b="0">
                <a:solidFill>
                  <a:srgbClr val="5B6661"/>
                </a:solidFill>
                <a:latin typeface="Arial"/>
              </a:rPr>
              <a:t>added · [[fill: run]]</a:t>
            </a:r>
          </a:p>
        </p:txBody>
      </p:sp>
      <p:sp>
        <p:nvSpPr>
          <p:cNvPr id="15" name="Rounded Rectangle 14"/>
          <p:cNvSpPr/>
          <p:nvPr/>
        </p:nvSpPr>
        <p:spPr>
          <a:xfrm>
            <a:off x="548640" y="2825495"/>
            <a:ext cx="1737360" cy="841248"/>
          </a:xfrm>
          <a:prstGeom prst="roundRect">
            <a:avLst>
              <a:gd name="adj" fmla="val 8000"/>
            </a:avLst>
          </a:prstGeom>
          <a:solidFill>
            <a:srgbClr val="EC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13232" y="2916935"/>
            <a:ext cx="1408176" cy="658368"/>
          </a:xfrm>
          <a:prstGeom prst="rect">
            <a:avLst/>
          </a:prstGeom>
          <a:noFill/>
        </p:spPr>
        <p:txBody>
          <a:bodyPr wrap="square" anchor="ctr" lIns="18288" rIns="18288" tIns="18288" bIns="18288">
            <a:spAutoFit/>
          </a:bodyPr>
          <a:lstStyle/>
          <a:p>
            <a:pPr algn="l">
              <a:lnSpc>
                <a:spcPct val="110000"/>
              </a:lnSpc>
              <a:spcAft>
                <a:spcPts val="700"/>
              </a:spcAft>
            </a:pPr>
            <a:r>
              <a:rPr sz="1200" b="1">
                <a:solidFill>
                  <a:srgbClr val="1D2321"/>
                </a:solidFill>
                <a:latin typeface="Arial"/>
              </a:rPr>
              <a:t>5  Donor deposit</a:t>
            </a:r>
          </a:p>
          <a:p>
            <a:pPr algn="l">
              <a:lnSpc>
                <a:spcPct val="110000"/>
              </a:lnSpc>
              <a:spcAft>
                <a:spcPts val="0"/>
              </a:spcAft>
            </a:pPr>
            <a:r>
              <a:rPr sz="1100" b="0">
                <a:solidFill>
                  <a:srgbClr val="5B6661"/>
                </a:solidFill>
                <a:latin typeface="Arial"/>
              </a:rPr>
              <a:t>received · [[fill: run]]</a:t>
            </a:r>
          </a:p>
        </p:txBody>
      </p:sp>
      <p:sp>
        <p:nvSpPr>
          <p:cNvPr id="17" name="Rounded Rectangle 16"/>
          <p:cNvSpPr/>
          <p:nvPr/>
        </p:nvSpPr>
        <p:spPr>
          <a:xfrm>
            <a:off x="2395728" y="2825495"/>
            <a:ext cx="1737360" cy="841248"/>
          </a:xfrm>
          <a:prstGeom prst="roundRect">
            <a:avLst>
              <a:gd name="adj" fmla="val 8000"/>
            </a:avLst>
          </a:prstGeom>
          <a:solidFill>
            <a:srgbClr val="EC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2560320" y="2916935"/>
            <a:ext cx="1408176" cy="658368"/>
          </a:xfrm>
          <a:prstGeom prst="rect">
            <a:avLst/>
          </a:prstGeom>
          <a:noFill/>
        </p:spPr>
        <p:txBody>
          <a:bodyPr wrap="square" anchor="ctr" lIns="18288" rIns="18288" tIns="18288" bIns="18288">
            <a:spAutoFit/>
          </a:bodyPr>
          <a:lstStyle/>
          <a:p>
            <a:pPr algn="l">
              <a:lnSpc>
                <a:spcPct val="110000"/>
              </a:lnSpc>
              <a:spcAft>
                <a:spcPts val="700"/>
              </a:spcAft>
            </a:pPr>
            <a:r>
              <a:rPr sz="1200" b="1">
                <a:solidFill>
                  <a:srgbClr val="1D2321"/>
                </a:solidFill>
                <a:latin typeface="Arial"/>
              </a:rPr>
              <a:t>6  Routine batch of 11</a:t>
            </a:r>
          </a:p>
          <a:p>
            <a:pPr algn="l">
              <a:lnSpc>
                <a:spcPct val="110000"/>
              </a:lnSpc>
              <a:spcAft>
                <a:spcPts val="0"/>
              </a:spcAft>
            </a:pPr>
            <a:r>
              <a:rPr sz="1100" b="0">
                <a:solidFill>
                  <a:srgbClr val="5B6661"/>
                </a:solidFill>
                <a:latin typeface="Arial"/>
              </a:rPr>
              <a:t>paid · [[fill: run]]</a:t>
            </a:r>
          </a:p>
        </p:txBody>
      </p:sp>
      <p:sp>
        <p:nvSpPr>
          <p:cNvPr id="19" name="Rounded Rectangle 18"/>
          <p:cNvSpPr/>
          <p:nvPr/>
        </p:nvSpPr>
        <p:spPr>
          <a:xfrm>
            <a:off x="4242816" y="2825495"/>
            <a:ext cx="1737360" cy="841248"/>
          </a:xfrm>
          <a:prstGeom prst="roundRect">
            <a:avLst>
              <a:gd name="adj" fmla="val 8000"/>
            </a:avLst>
          </a:prstGeom>
          <a:solidFill>
            <a:srgbClr val="EC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4407408" y="2916935"/>
            <a:ext cx="1408176" cy="658368"/>
          </a:xfrm>
          <a:prstGeom prst="rect">
            <a:avLst/>
          </a:prstGeom>
          <a:noFill/>
        </p:spPr>
        <p:txBody>
          <a:bodyPr wrap="square" anchor="ctr" lIns="18288" rIns="18288" tIns="18288" bIns="18288">
            <a:spAutoFit/>
          </a:bodyPr>
          <a:lstStyle/>
          <a:p>
            <a:pPr algn="l">
              <a:lnSpc>
                <a:spcPct val="110000"/>
              </a:lnSpc>
              <a:spcAft>
                <a:spcPts val="700"/>
              </a:spcAft>
            </a:pPr>
            <a:r>
              <a:rPr sz="1200" b="1">
                <a:solidFill>
                  <a:srgbClr val="1D2321"/>
                </a:solidFill>
                <a:latin typeface="Arial"/>
              </a:rPr>
              <a:t>7  Grant with a trustee</a:t>
            </a:r>
          </a:p>
          <a:p>
            <a:pPr algn="l">
              <a:lnSpc>
                <a:spcPct val="110000"/>
              </a:lnSpc>
              <a:spcAft>
                <a:spcPts val="0"/>
              </a:spcAft>
            </a:pPr>
            <a:r>
              <a:rPr sz="1100" b="0">
                <a:solidFill>
                  <a:srgbClr val="5B6661"/>
                </a:solidFill>
                <a:latin typeface="Arial"/>
              </a:rPr>
              <a:t>paid · [[fill: run]]</a:t>
            </a:r>
          </a:p>
        </p:txBody>
      </p:sp>
      <p:sp>
        <p:nvSpPr>
          <p:cNvPr id="21" name="Rounded Rectangle 20"/>
          <p:cNvSpPr/>
          <p:nvPr/>
        </p:nvSpPr>
        <p:spPr>
          <a:xfrm>
            <a:off x="6089904" y="2825495"/>
            <a:ext cx="1737360" cy="841248"/>
          </a:xfrm>
          <a:prstGeom prst="roundRect">
            <a:avLst>
              <a:gd name="adj" fmla="val 8000"/>
            </a:avLst>
          </a:prstGeom>
          <a:solidFill>
            <a:srgbClr val="EC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254496" y="2916935"/>
            <a:ext cx="1408176" cy="658368"/>
          </a:xfrm>
          <a:prstGeom prst="rect">
            <a:avLst/>
          </a:prstGeom>
          <a:noFill/>
        </p:spPr>
        <p:txBody>
          <a:bodyPr wrap="square" anchor="ctr" lIns="18288" rIns="18288" tIns="18288" bIns="18288">
            <a:spAutoFit/>
          </a:bodyPr>
          <a:lstStyle/>
          <a:p>
            <a:pPr algn="l">
              <a:lnSpc>
                <a:spcPct val="110000"/>
              </a:lnSpc>
              <a:spcAft>
                <a:spcPts val="700"/>
              </a:spcAft>
            </a:pPr>
            <a:r>
              <a:rPr sz="1200" b="1">
                <a:solidFill>
                  <a:srgbClr val="1D2321"/>
                </a:solidFill>
                <a:latin typeface="Arial"/>
              </a:rPr>
              <a:t>8  Induced transfer</a:t>
            </a:r>
          </a:p>
          <a:p>
            <a:pPr algn="l">
              <a:lnSpc>
                <a:spcPct val="110000"/>
              </a:lnSpc>
              <a:spcAft>
                <a:spcPts val="0"/>
              </a:spcAft>
            </a:pPr>
            <a:r>
              <a:rPr sz="1100" b="0">
                <a:solidFill>
                  <a:srgbClr val="5B6661"/>
                </a:solidFill>
                <a:latin typeface="Arial"/>
              </a:rPr>
              <a:t>refused, anchored · [[fill: run]]</a:t>
            </a:r>
          </a:p>
        </p:txBody>
      </p:sp>
      <p:sp>
        <p:nvSpPr>
          <p:cNvPr id="23" name="Rounded Rectangle 22"/>
          <p:cNvSpPr/>
          <p:nvPr/>
        </p:nvSpPr>
        <p:spPr>
          <a:xfrm>
            <a:off x="548640" y="3776471"/>
            <a:ext cx="1737360" cy="841248"/>
          </a:xfrm>
          <a:prstGeom prst="roundRect">
            <a:avLst>
              <a:gd name="adj" fmla="val 8000"/>
            </a:avLst>
          </a:prstGeom>
          <a:solidFill>
            <a:srgbClr val="EC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13232" y="3867911"/>
            <a:ext cx="1408176" cy="658368"/>
          </a:xfrm>
          <a:prstGeom prst="rect">
            <a:avLst/>
          </a:prstGeom>
          <a:noFill/>
        </p:spPr>
        <p:txBody>
          <a:bodyPr wrap="square" anchor="ctr" lIns="18288" rIns="18288" tIns="18288" bIns="18288">
            <a:spAutoFit/>
          </a:bodyPr>
          <a:lstStyle/>
          <a:p>
            <a:pPr algn="l">
              <a:lnSpc>
                <a:spcPct val="110000"/>
              </a:lnSpc>
              <a:spcAft>
                <a:spcPts val="700"/>
              </a:spcAft>
            </a:pPr>
            <a:r>
              <a:rPr sz="1200" b="1">
                <a:solidFill>
                  <a:srgbClr val="1D2321"/>
                </a:solidFill>
                <a:latin typeface="Arial"/>
              </a:rPr>
              <a:t>9  Injected letter</a:t>
            </a:r>
          </a:p>
          <a:p>
            <a:pPr algn="l">
              <a:lnSpc>
                <a:spcPct val="110000"/>
              </a:lnSpc>
              <a:spcAft>
                <a:spcPts val="0"/>
              </a:spcAft>
            </a:pPr>
            <a:r>
              <a:rPr sz="1100" b="0">
                <a:solidFill>
                  <a:srgbClr val="5B6661"/>
                </a:solidFill>
                <a:latin typeface="Arial"/>
              </a:rPr>
              <a:t>refused, anchored · [[fill: run]]</a:t>
            </a:r>
          </a:p>
        </p:txBody>
      </p:sp>
      <p:sp>
        <p:nvSpPr>
          <p:cNvPr id="25" name="Rounded Rectangle 24"/>
          <p:cNvSpPr/>
          <p:nvPr/>
        </p:nvSpPr>
        <p:spPr>
          <a:xfrm>
            <a:off x="2395728" y="3776471"/>
            <a:ext cx="1737360" cy="841248"/>
          </a:xfrm>
          <a:prstGeom prst="roundRect">
            <a:avLst>
              <a:gd name="adj" fmla="val 8000"/>
            </a:avLst>
          </a:prstGeom>
          <a:solidFill>
            <a:srgbClr val="EC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2560320" y="3867911"/>
            <a:ext cx="1408176" cy="658368"/>
          </a:xfrm>
          <a:prstGeom prst="rect">
            <a:avLst/>
          </a:prstGeom>
          <a:noFill/>
        </p:spPr>
        <p:txBody>
          <a:bodyPr wrap="square" anchor="ctr" lIns="18288" rIns="18288" tIns="18288" bIns="18288">
            <a:spAutoFit/>
          </a:bodyPr>
          <a:lstStyle/>
          <a:p>
            <a:pPr algn="l">
              <a:lnSpc>
                <a:spcPct val="110000"/>
              </a:lnSpc>
              <a:spcAft>
                <a:spcPts val="700"/>
              </a:spcAft>
            </a:pPr>
            <a:r>
              <a:rPr sz="1200" b="1">
                <a:solidFill>
                  <a:srgbClr val="1D2321"/>
                </a:solidFill>
                <a:latin typeface="Arial"/>
              </a:rPr>
              <a:t>10  Forced, off the allowlist</a:t>
            </a:r>
          </a:p>
          <a:p>
            <a:pPr algn="l">
              <a:lnSpc>
                <a:spcPct val="110000"/>
              </a:lnSpc>
              <a:spcAft>
                <a:spcPts val="0"/>
              </a:spcAft>
            </a:pPr>
            <a:r>
              <a:rPr sz="1100" b="0">
                <a:solidFill>
                  <a:srgbClr val="5B6661"/>
                </a:solidFill>
                <a:latin typeface="Arial"/>
              </a:rPr>
              <a:t>reverted · [[fill: run]]</a:t>
            </a:r>
          </a:p>
        </p:txBody>
      </p:sp>
      <p:sp>
        <p:nvSpPr>
          <p:cNvPr id="27" name="Rounded Rectangle 26"/>
          <p:cNvSpPr/>
          <p:nvPr/>
        </p:nvSpPr>
        <p:spPr>
          <a:xfrm>
            <a:off x="4242816" y="3776471"/>
            <a:ext cx="1737360" cy="841248"/>
          </a:xfrm>
          <a:prstGeom prst="roundRect">
            <a:avLst>
              <a:gd name="adj" fmla="val 8000"/>
            </a:avLst>
          </a:prstGeom>
          <a:solidFill>
            <a:srgbClr val="EC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4407408" y="3867911"/>
            <a:ext cx="1408176" cy="658368"/>
          </a:xfrm>
          <a:prstGeom prst="rect">
            <a:avLst/>
          </a:prstGeom>
          <a:noFill/>
        </p:spPr>
        <p:txBody>
          <a:bodyPr wrap="square" anchor="ctr" lIns="18288" rIns="18288" tIns="18288" bIns="18288">
            <a:spAutoFit/>
          </a:bodyPr>
          <a:lstStyle/>
          <a:p>
            <a:pPr algn="l">
              <a:lnSpc>
                <a:spcPct val="110000"/>
              </a:lnSpc>
              <a:spcAft>
                <a:spcPts val="700"/>
              </a:spcAft>
            </a:pPr>
            <a:r>
              <a:rPr sz="1200" b="1">
                <a:solidFill>
                  <a:srgbClr val="1D2321"/>
                </a:solidFill>
                <a:latin typeface="Arial"/>
              </a:rPr>
              <a:t>11  Same lineage</a:t>
            </a:r>
          </a:p>
          <a:p>
            <a:pPr algn="l">
              <a:lnSpc>
                <a:spcPct val="110000"/>
              </a:lnSpc>
              <a:spcAft>
                <a:spcPts val="0"/>
              </a:spcAft>
            </a:pPr>
            <a:r>
              <a:rPr sz="1100" b="0">
                <a:solidFill>
                  <a:srgbClr val="5B6661"/>
                </a:solidFill>
                <a:latin typeface="Arial"/>
              </a:rPr>
              <a:t>reverted · [[fill: run]]</a:t>
            </a:r>
          </a:p>
        </p:txBody>
      </p:sp>
      <p:sp>
        <p:nvSpPr>
          <p:cNvPr id="29" name="Rounded Rectangle 28"/>
          <p:cNvSpPr/>
          <p:nvPr/>
        </p:nvSpPr>
        <p:spPr>
          <a:xfrm>
            <a:off x="6089904" y="3776471"/>
            <a:ext cx="1737360" cy="841248"/>
          </a:xfrm>
          <a:prstGeom prst="roundRect">
            <a:avLst>
              <a:gd name="adj" fmla="val 8000"/>
            </a:avLst>
          </a:prstGeom>
          <a:solidFill>
            <a:srgbClr val="EC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254496" y="3867911"/>
            <a:ext cx="1408176" cy="658368"/>
          </a:xfrm>
          <a:prstGeom prst="rect">
            <a:avLst/>
          </a:prstGeom>
          <a:noFill/>
        </p:spPr>
        <p:txBody>
          <a:bodyPr wrap="square" anchor="ctr" lIns="18288" rIns="18288" tIns="18288" bIns="18288">
            <a:spAutoFit/>
          </a:bodyPr>
          <a:lstStyle/>
          <a:p>
            <a:pPr algn="l">
              <a:lnSpc>
                <a:spcPct val="110000"/>
              </a:lnSpc>
              <a:spcAft>
                <a:spcPts val="700"/>
              </a:spcAft>
            </a:pPr>
            <a:r>
              <a:rPr sz="1200" b="1">
                <a:solidFill>
                  <a:srgbClr val="1D2321"/>
                </a:solidFill>
                <a:latin typeface="Arial"/>
              </a:rPr>
              <a:t>12  Planner governs</a:t>
            </a:r>
          </a:p>
          <a:p>
            <a:pPr algn="l">
              <a:lnSpc>
                <a:spcPct val="110000"/>
              </a:lnSpc>
              <a:spcAft>
                <a:spcPts val="0"/>
              </a:spcAft>
            </a:pPr>
            <a:r>
              <a:rPr sz="1100" b="0">
                <a:solidFill>
                  <a:srgbClr val="5B6661"/>
                </a:solidFill>
                <a:latin typeface="Arial"/>
              </a:rPr>
              <a:t>reverted · [[fill: run]]</a:t>
            </a:r>
          </a:p>
        </p:txBody>
      </p:sp>
      <p:sp>
        <p:nvSpPr>
          <p:cNvPr id="31" name="Rounded Rectangle 30"/>
          <p:cNvSpPr/>
          <p:nvPr/>
        </p:nvSpPr>
        <p:spPr>
          <a:xfrm>
            <a:off x="548640" y="4727447"/>
            <a:ext cx="1737360" cy="841248"/>
          </a:xfrm>
          <a:prstGeom prst="roundRect">
            <a:avLst>
              <a:gd name="adj" fmla="val 8000"/>
            </a:avLst>
          </a:prstGeom>
          <a:solidFill>
            <a:srgbClr val="EC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713232" y="4818887"/>
            <a:ext cx="1408176" cy="658368"/>
          </a:xfrm>
          <a:prstGeom prst="rect">
            <a:avLst/>
          </a:prstGeom>
          <a:noFill/>
        </p:spPr>
        <p:txBody>
          <a:bodyPr wrap="square" anchor="ctr" lIns="18288" rIns="18288" tIns="18288" bIns="18288">
            <a:spAutoFit/>
          </a:bodyPr>
          <a:lstStyle/>
          <a:p>
            <a:pPr algn="l">
              <a:lnSpc>
                <a:spcPct val="110000"/>
              </a:lnSpc>
              <a:spcAft>
                <a:spcPts val="700"/>
              </a:spcAft>
            </a:pPr>
            <a:r>
              <a:rPr sz="1200" b="1">
                <a:solidFill>
                  <a:srgbClr val="1D2321"/>
                </a:solidFill>
                <a:latin typeface="Arial"/>
              </a:rPr>
              <a:t>13  Structuring</a:t>
            </a:r>
          </a:p>
          <a:p>
            <a:pPr algn="l">
              <a:lnSpc>
                <a:spcPct val="110000"/>
              </a:lnSpc>
              <a:spcAft>
                <a:spcPts val="0"/>
              </a:spcAft>
            </a:pPr>
            <a:r>
              <a:rPr sz="1100" b="0">
                <a:solidFill>
                  <a:srgbClr val="5B6661"/>
                </a:solidFill>
                <a:latin typeface="Arial"/>
              </a:rPr>
              <a:t>capped · [[fill: run]]</a:t>
            </a:r>
          </a:p>
        </p:txBody>
      </p:sp>
      <p:sp>
        <p:nvSpPr>
          <p:cNvPr id="33" name="Rounded Rectangle 32"/>
          <p:cNvSpPr/>
          <p:nvPr/>
        </p:nvSpPr>
        <p:spPr>
          <a:xfrm>
            <a:off x="2395728" y="4727447"/>
            <a:ext cx="1737360" cy="841248"/>
          </a:xfrm>
          <a:prstGeom prst="roundRect">
            <a:avLst>
              <a:gd name="adj" fmla="val 8000"/>
            </a:avLst>
          </a:prstGeom>
          <a:solidFill>
            <a:srgbClr val="EC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2560320" y="4818887"/>
            <a:ext cx="1408176" cy="658368"/>
          </a:xfrm>
          <a:prstGeom prst="rect">
            <a:avLst/>
          </a:prstGeom>
          <a:noFill/>
        </p:spPr>
        <p:txBody>
          <a:bodyPr wrap="square" anchor="ctr" lIns="18288" rIns="18288" tIns="18288" bIns="18288">
            <a:spAutoFit/>
          </a:bodyPr>
          <a:lstStyle/>
          <a:p>
            <a:pPr algn="l">
              <a:lnSpc>
                <a:spcPct val="110000"/>
              </a:lnSpc>
              <a:spcAft>
                <a:spcPts val="700"/>
              </a:spcAft>
            </a:pPr>
            <a:r>
              <a:rPr sz="1200" b="1">
                <a:solidFill>
                  <a:srgbClr val="1D2321"/>
                </a:solidFill>
                <a:latin typeface="Arial"/>
              </a:rPr>
              <a:t>14  Immune loop</a:t>
            </a:r>
          </a:p>
          <a:p>
            <a:pPr algn="l">
              <a:lnSpc>
                <a:spcPct val="110000"/>
              </a:lnSpc>
              <a:spcAft>
                <a:spcPts val="0"/>
              </a:spcAft>
            </a:pPr>
            <a:r>
              <a:rPr sz="1100" b="0">
                <a:solidFill>
                  <a:srgbClr val="5B6661"/>
                </a:solidFill>
                <a:latin typeface="Arial"/>
              </a:rPr>
              <a:t>posture raised · [[fill: run]]</a:t>
            </a:r>
          </a:p>
        </p:txBody>
      </p:sp>
      <p:sp>
        <p:nvSpPr>
          <p:cNvPr id="35" name="Rounded Rectangle 34"/>
          <p:cNvSpPr/>
          <p:nvPr/>
        </p:nvSpPr>
        <p:spPr>
          <a:xfrm>
            <a:off x="4242816" y="4727447"/>
            <a:ext cx="1737360" cy="841248"/>
          </a:xfrm>
          <a:prstGeom prst="roundRect">
            <a:avLst>
              <a:gd name="adj" fmla="val 8000"/>
            </a:avLst>
          </a:prstGeom>
          <a:solidFill>
            <a:srgbClr val="EC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4407408" y="4818887"/>
            <a:ext cx="1408176" cy="658368"/>
          </a:xfrm>
          <a:prstGeom prst="rect">
            <a:avLst/>
          </a:prstGeom>
          <a:noFill/>
        </p:spPr>
        <p:txBody>
          <a:bodyPr wrap="square" anchor="ctr" lIns="18288" rIns="18288" tIns="18288" bIns="18288">
            <a:spAutoFit/>
          </a:bodyPr>
          <a:lstStyle/>
          <a:p>
            <a:pPr algn="l">
              <a:lnSpc>
                <a:spcPct val="110000"/>
              </a:lnSpc>
              <a:spcAft>
                <a:spcPts val="700"/>
              </a:spcAft>
            </a:pPr>
            <a:r>
              <a:rPr sz="1200" b="1">
                <a:solidFill>
                  <a:srgbClr val="1D2321"/>
                </a:solidFill>
                <a:latin typeface="Arial"/>
              </a:rPr>
              <a:t>15  Override</a:t>
            </a:r>
          </a:p>
          <a:p>
            <a:pPr algn="l">
              <a:lnSpc>
                <a:spcPct val="110000"/>
              </a:lnSpc>
              <a:spcAft>
                <a:spcPts val="0"/>
              </a:spcAft>
            </a:pPr>
            <a:r>
              <a:rPr sz="1100" b="0">
                <a:solidFill>
                  <a:srgbClr val="5B6661"/>
                </a:solidFill>
                <a:latin typeface="Arial"/>
              </a:rPr>
              <a:t>paid · [[fill: run]]</a:t>
            </a:r>
          </a:p>
        </p:txBody>
      </p:sp>
      <p:sp>
        <p:nvSpPr>
          <p:cNvPr id="37" name="Rounded Rectangle 36"/>
          <p:cNvSpPr/>
          <p:nvPr/>
        </p:nvSpPr>
        <p:spPr>
          <a:xfrm>
            <a:off x="6089904" y="4727447"/>
            <a:ext cx="1737360" cy="841248"/>
          </a:xfrm>
          <a:prstGeom prst="roundRect">
            <a:avLst>
              <a:gd name="adj" fmla="val 8000"/>
            </a:avLst>
          </a:prstGeom>
          <a:solidFill>
            <a:srgbClr val="EC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254496" y="4818887"/>
            <a:ext cx="1408176" cy="658368"/>
          </a:xfrm>
          <a:prstGeom prst="rect">
            <a:avLst/>
          </a:prstGeom>
          <a:noFill/>
        </p:spPr>
        <p:txBody>
          <a:bodyPr wrap="square" anchor="ctr" lIns="18288" rIns="18288" tIns="18288" bIns="18288">
            <a:spAutoFit/>
          </a:bodyPr>
          <a:lstStyle/>
          <a:p>
            <a:pPr algn="l">
              <a:lnSpc>
                <a:spcPct val="110000"/>
              </a:lnSpc>
              <a:spcAft>
                <a:spcPts val="700"/>
              </a:spcAft>
            </a:pPr>
            <a:r>
              <a:rPr sz="1200" b="1">
                <a:solidFill>
                  <a:srgbClr val="1D2321"/>
                </a:solidFill>
                <a:latin typeface="Arial"/>
              </a:rPr>
              <a:t>16  Guardian pause</a:t>
            </a:r>
          </a:p>
          <a:p>
            <a:pPr algn="l">
              <a:lnSpc>
                <a:spcPct val="110000"/>
              </a:lnSpc>
              <a:spcAft>
                <a:spcPts val="0"/>
              </a:spcAft>
            </a:pPr>
            <a:r>
              <a:rPr sz="1100" b="0">
                <a:solidFill>
                  <a:srgbClr val="5B6661"/>
                </a:solidFill>
                <a:latin typeface="Arial"/>
              </a:rPr>
              <a:t>reverted · [[fill: run]]</a:t>
            </a:r>
          </a:p>
        </p:txBody>
      </p:sp>
      <p:sp>
        <p:nvSpPr>
          <p:cNvPr id="39" name="Rounded Rectangle 38"/>
          <p:cNvSpPr/>
          <p:nvPr/>
        </p:nvSpPr>
        <p:spPr>
          <a:xfrm>
            <a:off x="8119872" y="1874519"/>
            <a:ext cx="3337560" cy="3694176"/>
          </a:xfrm>
          <a:prstGeom prst="roundRect">
            <a:avLst>
              <a:gd name="adj" fmla="val 8000"/>
            </a:avLst>
          </a:prstGeom>
          <a:solidFill>
            <a:srgbClr val="EC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8284464" y="1965959"/>
            <a:ext cx="3008376" cy="3511296"/>
          </a:xfrm>
          <a:prstGeom prst="rect">
            <a:avLst/>
          </a:prstGeom>
          <a:noFill/>
        </p:spPr>
        <p:txBody>
          <a:bodyPr wrap="square" anchor="t" lIns="18288" rIns="18288" tIns="18288" bIns="18288">
            <a:spAutoFit/>
          </a:bodyPr>
          <a:lstStyle/>
          <a:p>
            <a:pPr algn="l">
              <a:lnSpc>
                <a:spcPct val="110000"/>
              </a:lnSpc>
              <a:spcAft>
                <a:spcPts val="700"/>
              </a:spcAft>
            </a:pPr>
            <a:r>
              <a:rPr sz="1600" b="1">
                <a:solidFill>
                  <a:srgbClr val="0B5D3B"/>
                </a:solidFill>
                <a:latin typeface="Arial"/>
              </a:rPr>
              <a:t>On Base Sepolia</a:t>
            </a:r>
          </a:p>
          <a:p>
            <a:pPr algn="l">
              <a:lnSpc>
                <a:spcPct val="110000"/>
              </a:lnSpc>
              <a:spcAft>
                <a:spcPts val="700"/>
              </a:spcAft>
            </a:pPr>
            <a:r>
              <a:rPr sz="1400" b="0">
                <a:solidFill>
                  <a:srgbClr val="1D2321"/>
                </a:solidFill>
                <a:latin typeface="Arial"/>
              </a:rPr>
              <a:t>Vault [[fill: vault address]]</a:t>
            </a:r>
          </a:p>
          <a:p>
            <a:pPr algn="l">
              <a:lnSpc>
                <a:spcPct val="110000"/>
              </a:lnSpc>
              <a:spcAft>
                <a:spcPts val="700"/>
              </a:spcAft>
            </a:pPr>
            <a:r>
              <a:rPr sz="1400" b="0">
                <a:solidFill>
                  <a:srgbClr val="1D2321"/>
                </a:solidFill>
                <a:latin typeface="Arial"/>
              </a:rPr>
              <a:t>[[fill: Base Sepolia transactions]] transactions, each tagged with its scenario</a:t>
            </a:r>
          </a:p>
          <a:p>
            <a:pPr algn="l">
              <a:lnSpc>
                <a:spcPct val="110000"/>
              </a:lnSpc>
              <a:spcAft>
                <a:spcPts val="700"/>
              </a:spcAft>
            </a:pPr>
            <a:r>
              <a:rPr sz="1400" b="0">
                <a:solidFill>
                  <a:srgbClr val="1D2321"/>
                </a:solidFill>
                <a:latin typeface="Arial"/>
              </a:rPr>
              <a:t>verify.py passes on [[fill: payouts verify.py passed]] executed payouts</a:t>
            </a:r>
          </a:p>
          <a:p>
            <a:pPr algn="l">
              <a:lnSpc>
                <a:spcPct val="110000"/>
              </a:lnSpc>
              <a:spcAft>
                <a:spcPts val="0"/>
              </a:spcAft>
            </a:pPr>
            <a:r>
              <a:rPr sz="1400" b="0">
                <a:solidFill>
                  <a:srgbClr val="1D2321"/>
                </a:solidFill>
                <a:latin typeface="Arial"/>
              </a:rPr>
              <a:t>The action log is hash-chained, and its head is anchored on-chain.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1094415" cy="320040"/>
          </a:xfrm>
          <a:prstGeom prst="rect">
            <a:avLst/>
          </a:prstGeom>
          <a:noFill/>
        </p:spPr>
        <p:txBody>
          <a:bodyPr wrap="square" anchor="t" lIns="18288" rIns="18288" tIns="18288" bIns="18288">
            <a:spAutoFit/>
          </a:bodyPr>
          <a:lstStyle/>
          <a:p>
            <a:pPr algn="l">
              <a:lnSpc>
                <a:spcPct val="110000"/>
              </a:lnSpc>
              <a:spcAft>
                <a:spcPts val="0"/>
              </a:spcAft>
            </a:pPr>
            <a:r>
              <a:rPr sz="1200" b="1">
                <a:solidFill>
                  <a:srgbClr val="0B5D3B"/>
                </a:solidFill>
                <a:latin typeface="Arial"/>
              </a:rPr>
              <a:t>10 · FROM DEMO TO PILOT</a:t>
            </a:r>
          </a:p>
        </p:txBody>
      </p:sp>
      <p:sp>
        <p:nvSpPr>
          <p:cNvPr id="3" name="TextBox 2"/>
          <p:cNvSpPr txBox="1"/>
          <p:nvPr/>
        </p:nvSpPr>
        <p:spPr>
          <a:xfrm>
            <a:off x="548640" y="658368"/>
            <a:ext cx="11094415" cy="1097280"/>
          </a:xfrm>
          <a:prstGeom prst="rect">
            <a:avLst/>
          </a:prstGeom>
          <a:noFill/>
        </p:spPr>
        <p:txBody>
          <a:bodyPr wrap="square" anchor="t" lIns="18288" rIns="18288" tIns="18288" bIns="18288">
            <a:spAutoFit/>
          </a:bodyPr>
          <a:lstStyle/>
          <a:p>
            <a:pPr algn="l">
              <a:lnSpc>
                <a:spcPct val="100000"/>
              </a:lnSpc>
              <a:spcAft>
                <a:spcPts val="0"/>
              </a:spcAft>
            </a:pPr>
            <a:r>
              <a:rPr sz="2800" b="1">
                <a:solidFill>
                  <a:srgbClr val="1D2321"/>
                </a:solidFill>
                <a:latin typeface="Arial"/>
              </a:rPr>
              <a:t>The same wallet serves any fund whose rules fit a mandate, and the path to a pilot is short</a:t>
            </a:r>
          </a:p>
        </p:txBody>
      </p:sp>
      <p:sp>
        <p:nvSpPr>
          <p:cNvPr id="4" name="Rectangle 3"/>
          <p:cNvSpPr/>
          <p:nvPr/>
        </p:nvSpPr>
        <p:spPr>
          <a:xfrm>
            <a:off x="548640" y="6291072"/>
            <a:ext cx="11094415" cy="9525"/>
          </a:xfrm>
          <a:prstGeom prst="rect">
            <a:avLst/>
          </a:prstGeom>
          <a:solidFill>
            <a:srgbClr val="C9D6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355080"/>
            <a:ext cx="9631375" cy="365760"/>
          </a:xfrm>
          <a:prstGeom prst="rect">
            <a:avLst/>
          </a:prstGeom>
          <a:noFill/>
        </p:spPr>
        <p:txBody>
          <a:bodyPr wrap="square" anchor="t" lIns="18288" rIns="18288" tIns="18288" bIns="18288">
            <a:spAutoFit/>
          </a:bodyPr>
          <a:lstStyle/>
          <a:p>
            <a:pPr algn="l">
              <a:lnSpc>
                <a:spcPct val="110000"/>
              </a:lnSpc>
              <a:spcAft>
                <a:spcPts val="0"/>
              </a:spcAft>
            </a:pPr>
            <a:r>
              <a:rPr sz="1000" b="0">
                <a:solidFill>
                  <a:srgbClr val="5B6661"/>
                </a:solidFill>
                <a:latin typeface="Arial"/>
              </a:rPr>
              <a:t>Source: README sections 7.6, 11 and 16; bash scripts/test_all.sh</a:t>
            </a:r>
          </a:p>
        </p:txBody>
      </p:sp>
      <p:sp>
        <p:nvSpPr>
          <p:cNvPr id="6" name="TextBox 5"/>
          <p:cNvSpPr txBox="1"/>
          <p:nvPr/>
        </p:nvSpPr>
        <p:spPr>
          <a:xfrm>
            <a:off x="10362895" y="6355080"/>
            <a:ext cx="1280160" cy="365760"/>
          </a:xfrm>
          <a:prstGeom prst="rect">
            <a:avLst/>
          </a:prstGeom>
          <a:noFill/>
        </p:spPr>
        <p:txBody>
          <a:bodyPr wrap="square" anchor="t" lIns="18288" rIns="18288" tIns="18288" bIns="18288">
            <a:spAutoFit/>
          </a:bodyPr>
          <a:lstStyle/>
          <a:p>
            <a:pPr algn="r">
              <a:lnSpc>
                <a:spcPct val="110000"/>
              </a:lnSpc>
              <a:spcAft>
                <a:spcPts val="0"/>
              </a:spcAft>
            </a:pPr>
            <a:r>
              <a:rPr sz="1000" b="0">
                <a:solidFill>
                  <a:srgbClr val="5B6661"/>
                </a:solidFill>
                <a:latin typeface="Arial"/>
              </a:rPr>
              <a:t>Amanah  11 / 11</a:t>
            </a:r>
          </a:p>
        </p:txBody>
      </p:sp>
      <p:sp>
        <p:nvSpPr>
          <p:cNvPr id="7" name="Rounded Rectangle 6"/>
          <p:cNvSpPr/>
          <p:nvPr/>
        </p:nvSpPr>
        <p:spPr>
          <a:xfrm>
            <a:off x="548640" y="1874519"/>
            <a:ext cx="3520440" cy="2606040"/>
          </a:xfrm>
          <a:prstGeom prst="roundRect">
            <a:avLst>
              <a:gd name="adj" fmla="val 8000"/>
            </a:avLst>
          </a:prstGeom>
          <a:solidFill>
            <a:srgbClr val="EC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13232" y="1965959"/>
            <a:ext cx="3191256" cy="2423160"/>
          </a:xfrm>
          <a:prstGeom prst="rect">
            <a:avLst/>
          </a:prstGeom>
          <a:noFill/>
        </p:spPr>
        <p:txBody>
          <a:bodyPr wrap="square" anchor="t" lIns="18288" rIns="18288" tIns="18288" bIns="18288">
            <a:spAutoFit/>
          </a:bodyPr>
          <a:lstStyle/>
          <a:p>
            <a:pPr algn="l">
              <a:lnSpc>
                <a:spcPct val="110000"/>
              </a:lnSpc>
              <a:spcAft>
                <a:spcPts val="700"/>
              </a:spcAft>
            </a:pPr>
            <a:r>
              <a:rPr sz="1700" b="1">
                <a:solidFill>
                  <a:srgbClr val="0B5D3B"/>
                </a:solidFill>
                <a:latin typeface="Arial"/>
              </a:rPr>
              <a:t>Built and tested</a:t>
            </a:r>
          </a:p>
          <a:p>
            <a:pPr algn="l">
              <a:lnSpc>
                <a:spcPct val="110000"/>
              </a:lnSpc>
              <a:spcAft>
                <a:spcPts val="700"/>
              </a:spcAft>
            </a:pPr>
            <a:r>
              <a:rPr sz="1400" b="0">
                <a:solidFill>
                  <a:srgbClr val="1D2321"/>
                </a:solidFill>
                <a:latin typeface="Arial"/>
              </a:rPr>
              <a:t>3 funds, 3 programmes, 45 beneficiaries</a:t>
            </a:r>
          </a:p>
          <a:p>
            <a:pPr algn="l">
              <a:lnSpc>
                <a:spcPct val="110000"/>
              </a:lnSpc>
              <a:spcAft>
                <a:spcPts val="700"/>
              </a:spcAft>
            </a:pPr>
            <a:r>
              <a:rPr sz="1400" b="0">
                <a:solidFill>
                  <a:srgbClr val="1D2321"/>
                </a:solidFill>
                <a:latin typeface="Arial"/>
              </a:rPr>
              <a:t>16 scripted scenarios</a:t>
            </a:r>
          </a:p>
          <a:p>
            <a:pPr algn="l">
              <a:lnSpc>
                <a:spcPct val="110000"/>
              </a:lnSpc>
              <a:spcAft>
                <a:spcPts val="0"/>
              </a:spcAft>
            </a:pPr>
            <a:r>
              <a:rPr sz="1400" b="0">
                <a:solidFill>
                  <a:srgbClr val="1D2321"/>
                </a:solidFill>
                <a:latin typeface="Arial"/>
              </a:rPr>
              <a:t>288 automated tests: contracts 109, backend 116, red team 23, frontend unit 23, browser checks 17</a:t>
            </a:r>
          </a:p>
        </p:txBody>
      </p:sp>
      <p:sp>
        <p:nvSpPr>
          <p:cNvPr id="9" name="Rounded Rectangle 8"/>
          <p:cNvSpPr/>
          <p:nvPr/>
        </p:nvSpPr>
        <p:spPr>
          <a:xfrm>
            <a:off x="4297679" y="1874519"/>
            <a:ext cx="3520440" cy="2606040"/>
          </a:xfrm>
          <a:prstGeom prst="roundRect">
            <a:avLst>
              <a:gd name="adj" fmla="val 8000"/>
            </a:avLst>
          </a:prstGeom>
          <a:solidFill>
            <a:srgbClr val="EC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462271" y="1965959"/>
            <a:ext cx="3191256" cy="2423160"/>
          </a:xfrm>
          <a:prstGeom prst="rect">
            <a:avLst/>
          </a:prstGeom>
          <a:noFill/>
        </p:spPr>
        <p:txBody>
          <a:bodyPr wrap="square" anchor="t" lIns="18288" rIns="18288" tIns="18288" bIns="18288">
            <a:spAutoFit/>
          </a:bodyPr>
          <a:lstStyle/>
          <a:p>
            <a:pPr algn="l">
              <a:lnSpc>
                <a:spcPct val="110000"/>
              </a:lnSpc>
              <a:spcAft>
                <a:spcPts val="700"/>
              </a:spcAft>
            </a:pPr>
            <a:r>
              <a:rPr sz="1700" b="1">
                <a:solidFill>
                  <a:srgbClr val="0B5D3B"/>
                </a:solidFill>
                <a:latin typeface="Arial"/>
              </a:rPr>
              <a:t>For a pilot</a:t>
            </a:r>
          </a:p>
          <a:p>
            <a:pPr algn="l">
              <a:lnSpc>
                <a:spcPct val="110000"/>
              </a:lnSpc>
              <a:spcAft>
                <a:spcPts val="700"/>
              </a:spcAft>
            </a:pPr>
            <a:r>
              <a:rPr sz="1400" b="0">
                <a:solidFill>
                  <a:srgbClr val="1D2321"/>
                </a:solidFill>
                <a:latin typeface="Arial"/>
              </a:rPr>
              <a:t>one programme at a Malaysian zakat institution, planned outreach</a:t>
            </a:r>
          </a:p>
          <a:p>
            <a:pPr algn="l">
              <a:lnSpc>
                <a:spcPct val="110000"/>
              </a:lnSpc>
              <a:spcAft>
                <a:spcPts val="700"/>
              </a:spcAft>
            </a:pPr>
            <a:r>
              <a:rPr sz="1400" b="0">
                <a:solidFill>
                  <a:srgbClr val="1D2321"/>
                </a:solidFill>
                <a:latin typeface="Arial"/>
              </a:rPr>
              <a:t>agent keys in a key management service</a:t>
            </a:r>
          </a:p>
          <a:p>
            <a:pPr algn="l">
              <a:lnSpc>
                <a:spcPct val="110000"/>
              </a:lnSpc>
              <a:spcAft>
                <a:spcPts val="0"/>
              </a:spcAft>
            </a:pPr>
            <a:r>
              <a:rPr sz="1400" b="0">
                <a:solidFill>
                  <a:srgbClr val="1D2321"/>
                </a:solidFill>
                <a:latin typeface="Arial"/>
              </a:rPr>
              <a:t>trustee governance in a Safe multisig</a:t>
            </a:r>
          </a:p>
        </p:txBody>
      </p:sp>
      <p:sp>
        <p:nvSpPr>
          <p:cNvPr id="11" name="Rounded Rectangle 10"/>
          <p:cNvSpPr/>
          <p:nvPr/>
        </p:nvSpPr>
        <p:spPr>
          <a:xfrm>
            <a:off x="8046718" y="1874519"/>
            <a:ext cx="3520440" cy="2606040"/>
          </a:xfrm>
          <a:prstGeom prst="roundRect">
            <a:avLst>
              <a:gd name="adj" fmla="val 8000"/>
            </a:avLst>
          </a:prstGeom>
          <a:solidFill>
            <a:srgbClr val="EC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211310" y="1965959"/>
            <a:ext cx="3191256" cy="2423160"/>
          </a:xfrm>
          <a:prstGeom prst="rect">
            <a:avLst/>
          </a:prstGeom>
          <a:noFill/>
        </p:spPr>
        <p:txBody>
          <a:bodyPr wrap="square" anchor="t" lIns="18288" rIns="18288" tIns="18288" bIns="18288">
            <a:spAutoFit/>
          </a:bodyPr>
          <a:lstStyle/>
          <a:p>
            <a:pPr algn="l">
              <a:lnSpc>
                <a:spcPct val="110000"/>
              </a:lnSpc>
              <a:spcAft>
                <a:spcPts val="700"/>
              </a:spcAft>
            </a:pPr>
            <a:r>
              <a:rPr sz="1700" b="1">
                <a:solidFill>
                  <a:srgbClr val="0B5D3B"/>
                </a:solidFill>
                <a:latin typeface="Arial"/>
              </a:rPr>
              <a:t>Next</a:t>
            </a:r>
          </a:p>
          <a:p>
            <a:pPr algn="l">
              <a:lnSpc>
                <a:spcPct val="110000"/>
              </a:lnSpc>
              <a:spcAft>
                <a:spcPts val="700"/>
              </a:spcAft>
            </a:pPr>
            <a:r>
              <a:rPr sz="1400" b="0">
                <a:solidFill>
                  <a:srgbClr val="1D2321"/>
                </a:solidFill>
                <a:latin typeface="Arial"/>
              </a:rPr>
              <a:t>attested lineage, so the registry proves which model signed</a:t>
            </a:r>
          </a:p>
          <a:p>
            <a:pPr algn="l">
              <a:lnSpc>
                <a:spcPct val="110000"/>
              </a:lnSpc>
              <a:spcAft>
                <a:spcPts val="700"/>
              </a:spcAft>
            </a:pPr>
            <a:r>
              <a:rPr sz="1400" b="0">
                <a:solidFill>
                  <a:srgbClr val="1D2321"/>
                </a:solidFill>
                <a:latin typeface="Arial"/>
              </a:rPr>
              <a:t>a permissioned chain such as FISCO BCOS, not yet tested</a:t>
            </a:r>
          </a:p>
          <a:p>
            <a:pPr algn="l">
              <a:lnSpc>
                <a:spcPct val="110000"/>
              </a:lnSpc>
              <a:spcAft>
                <a:spcPts val="0"/>
              </a:spcAft>
            </a:pPr>
            <a:r>
              <a:rPr sz="1400" b="0">
                <a:solidFill>
                  <a:srgbClr val="1D2321"/>
                </a:solidFill>
                <a:latin typeface="Arial"/>
              </a:rPr>
              <a:t>shared keyed hashes, so institutions avoid paying one need twice</a:t>
            </a:r>
          </a:p>
        </p:txBody>
      </p:sp>
      <p:sp>
        <p:nvSpPr>
          <p:cNvPr id="13" name="Rounded Rectangle 12"/>
          <p:cNvSpPr/>
          <p:nvPr/>
        </p:nvSpPr>
        <p:spPr>
          <a:xfrm>
            <a:off x="548640" y="4709159"/>
            <a:ext cx="11094415" cy="868680"/>
          </a:xfrm>
          <a:prstGeom prst="roundRect">
            <a:avLst>
              <a:gd name="adj" fmla="val 8000"/>
            </a:avLst>
          </a:prstGeom>
          <a:solidFill>
            <a:srgbClr val="FFFFFF"/>
          </a:solidFill>
          <a:ln w="12700">
            <a:solidFill>
              <a:srgbClr val="C9D6C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13232" y="4800599"/>
            <a:ext cx="10765231" cy="685800"/>
          </a:xfrm>
          <a:prstGeom prst="rect">
            <a:avLst/>
          </a:prstGeom>
          <a:noFill/>
        </p:spPr>
        <p:txBody>
          <a:bodyPr wrap="square" anchor="ctr" lIns="18288" rIns="18288" tIns="18288" bIns="18288">
            <a:spAutoFit/>
          </a:bodyPr>
          <a:lstStyle/>
          <a:p>
            <a:pPr algn="l">
              <a:lnSpc>
                <a:spcPct val="110000"/>
              </a:lnSpc>
              <a:spcAft>
                <a:spcPts val="0"/>
              </a:spcAft>
            </a:pPr>
            <a:r>
              <a:rPr sz="1400" b="0">
                <a:solidFill>
                  <a:srgbClr val="1D2321"/>
                </a:solidFill>
                <a:latin typeface="Arial"/>
              </a:rPr>
              <a:t>Compliance: the 2026 agent-payment convention asks for authorisation boundaries, transaction limits, Know Your Agent, security testing and human fallback. Each maps to a control here (README 7.6).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